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8" r:id="rId1"/>
  </p:sldMasterIdLst>
  <p:notesMasterIdLst>
    <p:notesMasterId r:id="rId26"/>
  </p:notesMasterIdLst>
  <p:sldIdLst>
    <p:sldId id="256" r:id="rId2"/>
    <p:sldId id="264" r:id="rId3"/>
    <p:sldId id="291" r:id="rId4"/>
    <p:sldId id="293" r:id="rId5"/>
    <p:sldId id="292" r:id="rId6"/>
    <p:sldId id="277" r:id="rId7"/>
    <p:sldId id="260" r:id="rId8"/>
    <p:sldId id="261" r:id="rId9"/>
    <p:sldId id="281" r:id="rId10"/>
    <p:sldId id="265" r:id="rId11"/>
    <p:sldId id="282" r:id="rId12"/>
    <p:sldId id="266" r:id="rId13"/>
    <p:sldId id="283" r:id="rId14"/>
    <p:sldId id="284" r:id="rId15"/>
    <p:sldId id="290" r:id="rId16"/>
    <p:sldId id="288" r:id="rId17"/>
    <p:sldId id="298" r:id="rId18"/>
    <p:sldId id="299" r:id="rId19"/>
    <p:sldId id="287" r:id="rId20"/>
    <p:sldId id="294" r:id="rId21"/>
    <p:sldId id="295" r:id="rId22"/>
    <p:sldId id="300" r:id="rId23"/>
    <p:sldId id="301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84"/>
    <p:restoredTop sz="95319" autoAdjust="0"/>
  </p:normalViewPr>
  <p:slideViewPr>
    <p:cSldViewPr snapToGrid="0" snapToObjects="1">
      <p:cViewPr varScale="1">
        <p:scale>
          <a:sx n="127" d="100"/>
          <a:sy n="127" d="100"/>
        </p:scale>
        <p:origin x="4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534A9-6018-2047-913D-1953A2F6D512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E8F9F-6DA5-A84A-A6AC-9F6E4BC0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37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E8F9F-6DA5-A84A-A6AC-9F6E4BC07F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72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E8F9F-6DA5-A84A-A6AC-9F6E4BC07FF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57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29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8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5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51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64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03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23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9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1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0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47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6212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47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57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30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37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5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13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  <p:sldLayoutId id="2147483981" r:id="rId13"/>
    <p:sldLayoutId id="2147483982" r:id="rId14"/>
    <p:sldLayoutId id="2147483983" r:id="rId15"/>
    <p:sldLayoutId id="2147483984" r:id="rId16"/>
    <p:sldLayoutId id="214748398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D50C3BF-4EC6-4075-8C5A-BB4D93669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AAD5EEF9-647D-437D-909D-552158996D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AD572E06-C69D-4C73-907F-E960818C9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3FCCB2-5FFC-AF47-90CA-9CC12D113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0066" y="1122363"/>
            <a:ext cx="5397933" cy="2387600"/>
          </a:xfrm>
        </p:spPr>
        <p:txBody>
          <a:bodyPr>
            <a:normAutofit/>
          </a:bodyPr>
          <a:lstStyle/>
          <a:p>
            <a:r>
              <a:rPr lang="en-US" dirty="0"/>
              <a:t>CSC 119:Intro to Programming</a:t>
            </a:r>
            <a:br>
              <a:rPr lang="en-US" dirty="0"/>
            </a:br>
            <a:r>
              <a:rPr lang="en-US" dirty="0"/>
              <a:t>Lecture 2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D4A2AD78-BDD8-4072-A857-3652BA5A4B9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554" r="47326" b="-1"/>
          <a:stretch/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C427DC4-D0C8-4AD1-971C-C179999E4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1827C78-913D-484C-8C41-03DA314252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6F8B17C-D826-4328-938A-3EA29923D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39D88DB7-6249-4F7B-BE6A-FCC6D4978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756D5198-7167-4B16-AB98-5B4E36925F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DA8DAFD5-0534-4B77-9BDA-835065CBA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7CA8B15F-CF03-4D11-8AEC-82E80157B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459FF9F8-7A9B-4AA7-A132-383AF3485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CBA02FB8-E42C-45DA-AAF7-3397620DA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9929394A-93E2-4CC7-BE87-C83F6A8E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0D9C5509-FF48-4A4B-93E5-54BB49A4A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8D8D120B-EEA9-48FD-8996-23C6C46E1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3C6F42D5-B202-46C6-8515-D98407842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63970DAE-ED0B-4C16-A738-7D472097C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3057B46C-1C3D-49B0-BFA0-F8C5242339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48CF20C5-3838-4173-A8B8-B2F2C98F1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ECE30E10-7578-4E62-ACBF-10C479060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944967BD-A875-4678-99F4-7F57BB00D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39B8890D-782F-4441-99F8-24D555ADB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BD2843C9-86AC-4823-8D89-66B62F94E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1B519EA3-915E-4EAD-A40F-32168E8E1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7A321902-1E1D-4964-AF8F-D133DEA58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112E54C4-91A4-40EC-9182-578C6684F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8FA627D4-711B-43E1-956F-E83777F1E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A52861B4-1F11-4F96-B2C6-6CF1ABF3E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8B08E382-69A6-4F49-B9D0-30282ABF2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C90814EC-520D-44F5-86DC-EC86DC654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F912B22F-31DB-46D6-8E4E-54EBED6B9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051A22F2-66B3-4FF2-89BD-CD02C2681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Rectangle 33">
              <a:extLst>
                <a:ext uri="{FF2B5EF4-FFF2-40B4-BE49-F238E27FC236}">
                  <a16:creationId xmlns:a16="http://schemas.microsoft.com/office/drawing/2014/main" id="{4C2C276D-BE72-4024-971D-6777F9524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6AFDDC6B-3AFC-48D7-95CF-5FBB511D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FFAA444D-5CF5-4864-A37F-A111C8FF8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5FF79462-E4F2-48A6-A56D-0D60256382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966D2CEE-D08F-46BC-B14C-93765B5B5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599A4AD6-C27F-4336-9E88-8C647A23C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44DF8341-5042-4DC0-BAEF-E3D91FF7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71762CC7-CB05-40DA-A00C-4E2E2480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4F9045FC-8914-48C8-A36C-AAA35E3F4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2B8DF617-2AF1-45FE-A0B8-E36B9580A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492D7FF8-46B6-4679-9439-2057238D5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33DDE513-207C-49C7-BF67-7526AAAA1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Rectangle 45">
              <a:extLst>
                <a:ext uri="{FF2B5EF4-FFF2-40B4-BE49-F238E27FC236}">
                  <a16:creationId xmlns:a16="http://schemas.microsoft.com/office/drawing/2014/main" id="{ABEE1802-DF83-4775-831C-512B9B0B1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3882C4EF-F620-4972-8FB9-B856D2B63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531F85E7-F63E-4D39-8088-8195AD227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9ADD32DD-B096-4677-80F8-B92AA01E6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9F1863D8-139F-4C40-BF00-40B6EA0F3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41C88777-539F-4497-8ACD-DB5EB48C8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502CEC28-4F28-4576-B919-7262CCC10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C9E5198A-7C53-4D62-BA3D-A3AC6FD0F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E9A854AB-3F74-4287-87DC-AF5A56885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4AB0057E-B3A6-4026-9957-95F85AEE5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3EE41E05-F297-4026-836E-28493C070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C92C5E3B-704D-4F3E-8093-7CA684C41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825CD6F0-AF7C-4FF4-97CB-67456D1D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C4DD64A4-C034-4789-BB5E-F569044A3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683E0DB-6F21-4C3E-8305-9450FD8D6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F0A05D6A-7B96-4CC8-AE3F-7FD9D8AD9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33">
              <a:extLst>
                <a:ext uri="{FF2B5EF4-FFF2-40B4-BE49-F238E27FC236}">
                  <a16:creationId xmlns:a16="http://schemas.microsoft.com/office/drawing/2014/main" id="{5D804E2E-555D-4400-AF17-C855839CB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34">
              <a:extLst>
                <a:ext uri="{FF2B5EF4-FFF2-40B4-BE49-F238E27FC236}">
                  <a16:creationId xmlns:a16="http://schemas.microsoft.com/office/drawing/2014/main" id="{18D98775-8A76-44FB-B847-48847A7B51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35">
              <a:extLst>
                <a:ext uri="{FF2B5EF4-FFF2-40B4-BE49-F238E27FC236}">
                  <a16:creationId xmlns:a16="http://schemas.microsoft.com/office/drawing/2014/main" id="{81718D4D-D78C-49F6-A8D0-9BFA8281A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77635061-C105-40C2-B344-85AFF348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8AC7657B-8096-43B1-8064-66D26AD3E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53E7728E-84D6-4409-8B01-362F9C83C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39">
              <a:extLst>
                <a:ext uri="{FF2B5EF4-FFF2-40B4-BE49-F238E27FC236}">
                  <a16:creationId xmlns:a16="http://schemas.microsoft.com/office/drawing/2014/main" id="{4AC472D4-CE53-4329-A993-58B6E842D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40">
              <a:extLst>
                <a:ext uri="{FF2B5EF4-FFF2-40B4-BE49-F238E27FC236}">
                  <a16:creationId xmlns:a16="http://schemas.microsoft.com/office/drawing/2014/main" id="{26159CF8-0326-4216-A837-F6D30FE96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Rectangle 41">
              <a:extLst>
                <a:ext uri="{FF2B5EF4-FFF2-40B4-BE49-F238E27FC236}">
                  <a16:creationId xmlns:a16="http://schemas.microsoft.com/office/drawing/2014/main" id="{9BC6B81B-A802-4A4A-A808-00EB76985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94513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CBF7-69F7-7B44-ABCE-F80D6130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53192"/>
            <a:ext cx="10515600" cy="1325563"/>
          </a:xfrm>
        </p:spPr>
        <p:txBody>
          <a:bodyPr/>
          <a:lstStyle/>
          <a:p>
            <a:r>
              <a:rPr lang="en-US"/>
              <a:t>Last Lecture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5E837-F77E-AE4D-944C-919B5D780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875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General </a:t>
            </a:r>
            <a:r>
              <a:rPr lang="en-US" dirty="0"/>
              <a:t>programming intro</a:t>
            </a:r>
          </a:p>
          <a:p>
            <a:r>
              <a:rPr lang="en-US" dirty="0"/>
              <a:t>Python syntax &amp; variables</a:t>
            </a:r>
          </a:p>
        </p:txBody>
      </p:sp>
    </p:spTree>
    <p:extLst>
      <p:ext uri="{BB962C8B-B14F-4D97-AF65-F5344CB8AC3E}">
        <p14:creationId xmlns:p14="http://schemas.microsoft.com/office/powerpoint/2010/main" val="830997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CBF7-69F7-7B44-ABCE-F80D6130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53192"/>
            <a:ext cx="10515600" cy="1325563"/>
          </a:xfrm>
        </p:spPr>
        <p:txBody>
          <a:bodyPr/>
          <a:lstStyle/>
          <a:p>
            <a:r>
              <a:rPr lang="en-US" dirty="0"/>
              <a:t>Last Week – Assigned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5E837-F77E-AE4D-944C-919B5D780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8755"/>
            <a:ext cx="105156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 set of well-defined logical steps that must be taken to perform a task is called... ?</a:t>
            </a:r>
          </a:p>
          <a:p>
            <a:pPr lvl="1"/>
            <a:r>
              <a:rPr lang="en-US" dirty="0">
                <a:ea typeface="+mn-lt"/>
                <a:cs typeface="+mn-lt"/>
              </a:rPr>
              <a:t>Answer: Algorithm</a:t>
            </a:r>
          </a:p>
          <a:p>
            <a:r>
              <a:rPr lang="en-US" dirty="0">
                <a:ea typeface="+mn-lt"/>
                <a:cs typeface="+mn-lt"/>
              </a:rPr>
              <a:t>An informal language that has no syntax rules, and is not meant to be compiled or executed is called... ?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Answer: Pseudocode</a:t>
            </a:r>
          </a:p>
          <a:p>
            <a:r>
              <a:rPr lang="en-US" dirty="0">
                <a:ea typeface="+mn-lt"/>
                <a:cs typeface="+mn-lt"/>
              </a:rPr>
              <a:t>A _____ is a diagram that graphically depicts the steps that take place in a program.</a:t>
            </a:r>
          </a:p>
          <a:p>
            <a:pPr lvl="1"/>
            <a:r>
              <a:rPr lang="en-US" dirty="0"/>
              <a:t>Answer: Flow Chart</a:t>
            </a:r>
          </a:p>
          <a:p>
            <a:r>
              <a:rPr lang="en-US" dirty="0"/>
              <a:t>Flow Chart shapes and meanings:</a:t>
            </a:r>
          </a:p>
          <a:p>
            <a:pPr lvl="1"/>
            <a:r>
              <a:rPr lang="en-US" dirty="0"/>
              <a:t>Oval -&gt; Terminal Symbols</a:t>
            </a:r>
          </a:p>
          <a:p>
            <a:pPr lvl="1"/>
            <a:r>
              <a:rPr lang="en-US" dirty="0"/>
              <a:t>Parallelogram -&gt; Input/Output</a:t>
            </a:r>
          </a:p>
          <a:p>
            <a:pPr lvl="1"/>
            <a:r>
              <a:rPr lang="en-US" dirty="0"/>
              <a:t>Rectangle -&gt; Processing Symbol</a:t>
            </a:r>
          </a:p>
          <a:p>
            <a:pPr lvl="1"/>
            <a:r>
              <a:rPr lang="en-US" dirty="0"/>
              <a:t>Diamond -&gt; Decision Symbol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B1C674-FD00-4D6C-866A-6C5E6B13E5F3}"/>
              </a:ext>
            </a:extLst>
          </p:cNvPr>
          <p:cNvSpPr/>
          <p:nvPr/>
        </p:nvSpPr>
        <p:spPr>
          <a:xfrm>
            <a:off x="2657715" y="1878497"/>
            <a:ext cx="1347438" cy="278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52BA95-9BBD-41E0-9E5D-9FA167EAC776}"/>
              </a:ext>
            </a:extLst>
          </p:cNvPr>
          <p:cNvSpPr/>
          <p:nvPr/>
        </p:nvSpPr>
        <p:spPr>
          <a:xfrm>
            <a:off x="2657715" y="2934560"/>
            <a:ext cx="1347438" cy="278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659AA7-456C-4E13-9785-37DE36D63852}"/>
              </a:ext>
            </a:extLst>
          </p:cNvPr>
          <p:cNvSpPr/>
          <p:nvPr/>
        </p:nvSpPr>
        <p:spPr>
          <a:xfrm>
            <a:off x="2657715" y="3711843"/>
            <a:ext cx="1347438" cy="278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86BCBF-684F-4CAE-A080-5AC735A7B257}"/>
              </a:ext>
            </a:extLst>
          </p:cNvPr>
          <p:cNvSpPr/>
          <p:nvPr/>
        </p:nvSpPr>
        <p:spPr>
          <a:xfrm>
            <a:off x="2657715" y="4429819"/>
            <a:ext cx="1548721" cy="278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FC6B76-B785-4E1A-B012-472FF0BBF661}"/>
              </a:ext>
            </a:extLst>
          </p:cNvPr>
          <p:cNvSpPr/>
          <p:nvPr/>
        </p:nvSpPr>
        <p:spPr>
          <a:xfrm>
            <a:off x="3428483" y="4805877"/>
            <a:ext cx="1347438" cy="278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4E8681-C71E-4740-BFB7-94339D774377}"/>
              </a:ext>
            </a:extLst>
          </p:cNvPr>
          <p:cNvSpPr/>
          <p:nvPr/>
        </p:nvSpPr>
        <p:spPr>
          <a:xfrm>
            <a:off x="3069050" y="5137144"/>
            <a:ext cx="1706871" cy="264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4A377E-20E9-42FA-9CBD-693081493559}"/>
              </a:ext>
            </a:extLst>
          </p:cNvPr>
          <p:cNvSpPr/>
          <p:nvPr/>
        </p:nvSpPr>
        <p:spPr>
          <a:xfrm>
            <a:off x="3031079" y="5484399"/>
            <a:ext cx="1721249" cy="2500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0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CBF7-69F7-7B44-ABCE-F80D6130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53192"/>
            <a:ext cx="10515600" cy="1325563"/>
          </a:xfrm>
        </p:spPr>
        <p:txBody>
          <a:bodyPr/>
          <a:lstStyle/>
          <a:p>
            <a:r>
              <a:rPr lang="en-US" dirty="0"/>
              <a:t>Last Week – Assigned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5E837-F77E-AE4D-944C-919B5D780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8755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A set of statements that execute in the order that they appear is called... ? </a:t>
            </a:r>
          </a:p>
          <a:p>
            <a:pPr lvl="1"/>
            <a:r>
              <a:rPr lang="en-US" dirty="0"/>
              <a:t>Answer: Sequence Structure</a:t>
            </a:r>
          </a:p>
          <a:p>
            <a:r>
              <a:rPr lang="en-US" dirty="0"/>
              <a:t>A ____, also called a _____, is a logical design that controls the order in which a set of statements executes</a:t>
            </a:r>
          </a:p>
          <a:p>
            <a:pPr lvl="1"/>
            <a:r>
              <a:rPr lang="en-US" dirty="0"/>
              <a:t>Answer: structure, control structure</a:t>
            </a:r>
          </a:p>
          <a:p>
            <a:r>
              <a:rPr lang="en-US" dirty="0"/>
              <a:t>When would a "constant" be appropriate in code?</a:t>
            </a:r>
          </a:p>
          <a:p>
            <a:pPr lvl="1"/>
            <a:r>
              <a:rPr lang="en-US" dirty="0"/>
              <a:t>Answer: anytime a value cannot be changed during a program's execution</a:t>
            </a:r>
          </a:p>
          <a:p>
            <a:r>
              <a:rPr lang="en-US" dirty="0"/>
              <a:t>How do you get user input in Python?</a:t>
            </a:r>
          </a:p>
          <a:p>
            <a:pPr lvl="1"/>
            <a:r>
              <a:rPr lang="en-US" dirty="0"/>
              <a:t>Answer: input() function *note, it always gives string</a:t>
            </a:r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07FE19-F1CE-410A-AAE5-C514AFCD9962}"/>
              </a:ext>
            </a:extLst>
          </p:cNvPr>
          <p:cNvSpPr/>
          <p:nvPr/>
        </p:nvSpPr>
        <p:spPr>
          <a:xfrm>
            <a:off x="2741583" y="1969763"/>
            <a:ext cx="2081841" cy="373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4E91E8-8BA1-4BE7-8636-2D4D82AC14F3}"/>
              </a:ext>
            </a:extLst>
          </p:cNvPr>
          <p:cNvSpPr/>
          <p:nvPr/>
        </p:nvSpPr>
        <p:spPr>
          <a:xfrm>
            <a:off x="2741583" y="3328427"/>
            <a:ext cx="5362753" cy="301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3BAB43-44C7-43D3-8E69-F3905CA14C66}"/>
              </a:ext>
            </a:extLst>
          </p:cNvPr>
          <p:cNvSpPr/>
          <p:nvPr/>
        </p:nvSpPr>
        <p:spPr>
          <a:xfrm>
            <a:off x="2741583" y="4313281"/>
            <a:ext cx="6692349" cy="301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B5F3B3-F47E-1B40-8D7E-5447EEB11E97}"/>
              </a:ext>
            </a:extLst>
          </p:cNvPr>
          <p:cNvSpPr/>
          <p:nvPr/>
        </p:nvSpPr>
        <p:spPr>
          <a:xfrm>
            <a:off x="2741582" y="5189499"/>
            <a:ext cx="5362753" cy="3019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9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CBF7-69F7-7B44-ABCE-F80D6130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53192"/>
            <a:ext cx="10515600" cy="1325563"/>
          </a:xfrm>
        </p:spPr>
        <p:txBody>
          <a:bodyPr/>
          <a:lstStyle/>
          <a:p>
            <a:r>
              <a:rPr lang="en-US" dirty="0"/>
              <a:t>Last Week – Assigned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5E837-F77E-AE4D-944C-919B5D780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875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Complete the IPO chart: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CD0106-D05B-48F8-88DB-525D34C0A1A4}"/>
              </a:ext>
            </a:extLst>
          </p:cNvPr>
          <p:cNvSpPr txBox="1"/>
          <p:nvPr/>
        </p:nvSpPr>
        <p:spPr>
          <a:xfrm>
            <a:off x="4807788" y="482237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Number of Hours Worked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3E7D16-0E64-401F-AB9D-650B3290882F}"/>
              </a:ext>
            </a:extLst>
          </p:cNvPr>
          <p:cNvSpPr txBox="1"/>
          <p:nvPr/>
        </p:nvSpPr>
        <p:spPr>
          <a:xfrm>
            <a:off x="5146372" y="364966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Hourly Pay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49B42-0E50-4771-A03D-AB1D291740A4}"/>
              </a:ext>
            </a:extLst>
          </p:cNvPr>
          <p:cNvSpPr txBox="1"/>
          <p:nvPr/>
        </p:nvSpPr>
        <p:spPr>
          <a:xfrm>
            <a:off x="4807788" y="2850484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Multiply number of hours by hourly pay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9640AD-8476-475D-8585-B3FF518B2F8A}"/>
              </a:ext>
            </a:extLst>
          </p:cNvPr>
          <p:cNvSpPr txBox="1"/>
          <p:nvPr/>
        </p:nvSpPr>
        <p:spPr>
          <a:xfrm>
            <a:off x="5338851" y="430806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Gross Pay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A2F10F-EDBF-4224-9420-736F6FFE10FE}"/>
              </a:ext>
            </a:extLst>
          </p:cNvPr>
          <p:cNvSpPr txBox="1"/>
          <p:nvPr/>
        </p:nvSpPr>
        <p:spPr>
          <a:xfrm>
            <a:off x="2064588" y="21939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004729-9277-4FEB-92A0-2445B4CD18ED}"/>
              </a:ext>
            </a:extLst>
          </p:cNvPr>
          <p:cNvSpPr txBox="1"/>
          <p:nvPr/>
        </p:nvSpPr>
        <p:spPr>
          <a:xfrm>
            <a:off x="5428890" y="219398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Processing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5E33D3-1151-48B4-B1E9-569E51809E49}"/>
              </a:ext>
            </a:extLst>
          </p:cNvPr>
          <p:cNvSpPr txBox="1"/>
          <p:nvPr/>
        </p:nvSpPr>
        <p:spPr>
          <a:xfrm>
            <a:off x="9093503" y="218238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C96D7B-8998-499E-BF5C-15409E7D858B}"/>
              </a:ext>
            </a:extLst>
          </p:cNvPr>
          <p:cNvCxnSpPr/>
          <p:nvPr/>
        </p:nvCxnSpPr>
        <p:spPr>
          <a:xfrm>
            <a:off x="8067675" y="2367053"/>
            <a:ext cx="14376" cy="250165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F6DD03-6306-4873-BC80-2C1AD86FC3B2}"/>
              </a:ext>
            </a:extLst>
          </p:cNvPr>
          <p:cNvCxnSpPr>
            <a:cxnSpLocks/>
          </p:cNvCxnSpPr>
          <p:nvPr/>
        </p:nvCxnSpPr>
        <p:spPr>
          <a:xfrm flipH="1">
            <a:off x="4070767" y="2367052"/>
            <a:ext cx="1" cy="248728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5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D0F1-31A8-934B-8486-B9D3C52E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92339"/>
            <a:ext cx="8817864" cy="1188720"/>
          </a:xfrm>
        </p:spPr>
        <p:txBody>
          <a:bodyPr/>
          <a:lstStyle/>
          <a:p>
            <a:r>
              <a:rPr lang="en-US"/>
              <a:t>Paired Programming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E649D-E3FD-41FB-BA87-37C62725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875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Tasks</a:t>
            </a:r>
            <a:endParaRPr lang="en-US" dirty="0"/>
          </a:p>
          <a:p>
            <a:pPr marL="571500" lvl="1" indent="-342900">
              <a:buAutoNum type="arabicPeriod"/>
            </a:pPr>
            <a:r>
              <a:rPr lang="en-US" dirty="0"/>
              <a:t>Declare/Initialize an integer variable</a:t>
            </a:r>
          </a:p>
          <a:p>
            <a:pPr marL="571500" lvl="1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Declare/</a:t>
            </a:r>
            <a:r>
              <a:rPr lang="en-US" dirty="0"/>
              <a:t>Initialize a float variable</a:t>
            </a:r>
          </a:p>
          <a:p>
            <a:pPr marL="571500" lvl="1" indent="-342900">
              <a:buAutoNum type="arabicPeriod"/>
            </a:pPr>
            <a:r>
              <a:rPr lang="en-US" dirty="0">
                <a:ea typeface="+mn-lt"/>
                <a:cs typeface="+mn-lt"/>
              </a:rPr>
              <a:t>Declare/</a:t>
            </a:r>
            <a:r>
              <a:rPr lang="en-US" dirty="0"/>
              <a:t>Initialize a string variable</a:t>
            </a:r>
          </a:p>
          <a:p>
            <a:pPr marL="571500" lvl="1" indent="-342900">
              <a:buAutoNum type="arabicPeriod"/>
            </a:pPr>
            <a:r>
              <a:rPr lang="en-US" dirty="0"/>
              <a:t>Display the variables on the console</a:t>
            </a:r>
          </a:p>
          <a:p>
            <a:pPr marL="571500" lvl="1" indent="-342900">
              <a:buAutoNum type="arabicPeriod"/>
            </a:pPr>
            <a:r>
              <a:rPr lang="en-US" dirty="0"/>
              <a:t>Display the variables on new lines in the console</a:t>
            </a:r>
          </a:p>
        </p:txBody>
      </p:sp>
    </p:spTree>
    <p:extLst>
      <p:ext uri="{BB962C8B-B14F-4D97-AF65-F5344CB8AC3E}">
        <p14:creationId xmlns:p14="http://schemas.microsoft.com/office/powerpoint/2010/main" val="342188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242" y="162579"/>
            <a:ext cx="10515600" cy="1325563"/>
          </a:xfrm>
        </p:spPr>
        <p:txBody>
          <a:bodyPr/>
          <a:lstStyle/>
          <a:p>
            <a:r>
              <a:rPr lang="en-US" dirty="0"/>
              <a:t>Let’s Jump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242" y="1488142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This lecture we will be focusing on Non-Primitive (Complex) types in Python</a:t>
            </a:r>
            <a:endParaRPr lang="en-US" dirty="0"/>
          </a:p>
          <a:p>
            <a:r>
              <a:rPr lang="en-US"/>
              <a:t>List – a mutable (changeable) collection of items in a particular order</a:t>
            </a:r>
            <a:endParaRPr lang="en-US" dirty="0"/>
          </a:p>
          <a:p>
            <a:pPr lvl="1"/>
            <a:r>
              <a:rPr lang="en-US"/>
              <a:t>Can hold letters, numbers, names, etc</a:t>
            </a:r>
          </a:p>
          <a:p>
            <a:pPr lvl="1"/>
            <a:r>
              <a:rPr lang="en-US"/>
              <a:t>Does not have to be of the same type</a:t>
            </a:r>
          </a:p>
          <a:p>
            <a:pPr lvl="1"/>
            <a:r>
              <a:rPr lang="en-US"/>
              <a:t>Good Practice: make the names of lists plural</a:t>
            </a:r>
          </a:p>
          <a:p>
            <a:r>
              <a:rPr lang="en-US"/>
              <a:t>In Python lists are indicated by square brackets: [ ]</a:t>
            </a:r>
          </a:p>
          <a:p>
            <a:endParaRPr lang="en-US" dirty="0"/>
          </a:p>
        </p:txBody>
      </p:sp>
      <p:pic>
        <p:nvPicPr>
          <p:cNvPr id="7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7D0999C3-1D3F-4622-9A1B-8DC734094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35" y="5368915"/>
            <a:ext cx="7731730" cy="103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04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520633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Accessing list elements</a:t>
            </a:r>
          </a:p>
          <a:p>
            <a:pPr lvl="1"/>
            <a:r>
              <a:rPr lang="en-US" dirty="0"/>
              <a:t>Lists start at index (think position) 0 – There's a history behind why 0 and not 1, but that's not for this class</a:t>
            </a:r>
          </a:p>
          <a:p>
            <a:pPr lvl="1"/>
            <a:r>
              <a:rPr lang="en-US" dirty="0"/>
              <a:t>To access specific elements, you can pass the index of that element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Python offers a unique way of getting the last element of a list</a:t>
            </a:r>
          </a:p>
          <a:p>
            <a:pPr lvl="2"/>
            <a:r>
              <a:rPr lang="en-US" dirty="0"/>
              <a:t>In the above example, you can get the last by either of the following:</a:t>
            </a:r>
          </a:p>
          <a:p>
            <a:pPr lvl="3"/>
            <a:r>
              <a:rPr lang="en-US" dirty="0">
                <a:highlight>
                  <a:srgbClr val="000000"/>
                </a:highlight>
                <a:latin typeface="Courier New"/>
                <a:cs typeface="Courier New"/>
              </a:rPr>
              <a:t>print(names[3]) </a:t>
            </a:r>
          </a:p>
          <a:p>
            <a:pPr lvl="3"/>
            <a:r>
              <a:rPr lang="en-US" dirty="0">
                <a:highlight>
                  <a:srgbClr val="000000"/>
                </a:highlight>
                <a:latin typeface="Courier New"/>
                <a:cs typeface="Courier New"/>
              </a:rPr>
              <a:t>print(names[-1])</a:t>
            </a:r>
          </a:p>
          <a:p>
            <a:pPr lvl="2"/>
            <a:endParaRPr lang="en-US" dirty="0"/>
          </a:p>
        </p:txBody>
      </p:sp>
      <p:pic>
        <p:nvPicPr>
          <p:cNvPr id="4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7C3C5F-5563-43D7-8381-79C548DCA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084" y="3126566"/>
            <a:ext cx="6240784" cy="194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96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46102"/>
            <a:ext cx="10515600" cy="1325563"/>
          </a:xfrm>
        </p:spPr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B60DBF-F433-4057-85ED-960E10BB1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892" y="1495044"/>
            <a:ext cx="7729728" cy="4802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Modifying Elements</a:t>
            </a:r>
          </a:p>
          <a:p>
            <a:pPr lvl="1"/>
            <a:r>
              <a:rPr lang="en-US" dirty="0"/>
              <a:t>To change an element in a list, assign the new element to the index of the element you want to change</a:t>
            </a:r>
          </a:p>
          <a:p>
            <a:pPr lvl="2"/>
            <a:r>
              <a:rPr lang="en-US" dirty="0">
                <a:highlight>
                  <a:srgbClr val="000000"/>
                </a:highlight>
              </a:rPr>
              <a:t>names[0] = 'Amy'   #used to be 'Will'</a:t>
            </a:r>
          </a:p>
          <a:p>
            <a:r>
              <a:rPr lang="en-US" dirty="0"/>
              <a:t>Adding Elements</a:t>
            </a:r>
          </a:p>
          <a:p>
            <a:pPr lvl="1"/>
            <a:r>
              <a:rPr lang="en-US" dirty="0"/>
              <a:t>.append(element) - Adds element to end of list</a:t>
            </a:r>
          </a:p>
          <a:p>
            <a:pPr lvl="1"/>
            <a:r>
              <a:rPr lang="en-US" dirty="0"/>
              <a:t>.insert(</a:t>
            </a:r>
            <a:r>
              <a:rPr lang="en-US" dirty="0" err="1"/>
              <a:t>idx</a:t>
            </a:r>
            <a:r>
              <a:rPr lang="en-US" dirty="0"/>
              <a:t>, element) - Adds element at desired index while moving elements after index to the right (think current index + 1)</a:t>
            </a:r>
          </a:p>
          <a:p>
            <a:pPr lvl="1"/>
            <a:endParaRPr lang="en-US" dirty="0"/>
          </a:p>
        </p:txBody>
      </p:sp>
      <p:pic>
        <p:nvPicPr>
          <p:cNvPr id="4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6E648EE6-D4BA-4C03-9199-CD5E82CDC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810" y="4998089"/>
            <a:ext cx="5306520" cy="185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49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/>
              <a:t>Lists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5645970" cy="4971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Removing Elements</a:t>
            </a:r>
          </a:p>
          <a:p>
            <a:pPr lvl="1"/>
            <a:r>
              <a:rPr lang="en-US" dirty="0"/>
              <a:t>del statement – removes an element at the index provided</a:t>
            </a:r>
          </a:p>
          <a:p>
            <a:pPr lvl="1"/>
            <a:r>
              <a:rPr lang="en-US" dirty="0"/>
              <a:t>.pop() - removes last element, but lets you work with it after it's removed (assign to variable)</a:t>
            </a:r>
          </a:p>
          <a:p>
            <a:pPr lvl="1"/>
            <a:r>
              <a:rPr lang="en-US" dirty="0"/>
              <a:t>.pop(</a:t>
            </a:r>
            <a:r>
              <a:rPr lang="en-US" dirty="0" err="1"/>
              <a:t>idx</a:t>
            </a:r>
            <a:r>
              <a:rPr lang="en-US" dirty="0"/>
              <a:t>) - removes element at index, but lets you work with it after it's removed</a:t>
            </a:r>
          </a:p>
          <a:p>
            <a:pPr lvl="1"/>
            <a:r>
              <a:rPr lang="en-US" dirty="0"/>
              <a:t>.remove(element) - removes element by the value (useful if you don't know index)</a:t>
            </a:r>
          </a:p>
          <a:p>
            <a:pPr lvl="2"/>
            <a:r>
              <a:rPr lang="en-US" dirty="0"/>
              <a:t>Note: only removes first occurrence of element</a:t>
            </a:r>
          </a:p>
        </p:txBody>
      </p:sp>
      <p:pic>
        <p:nvPicPr>
          <p:cNvPr id="4" name="Picture 4" descr="A screenshot of a cell phone screen with text&#10;&#10;Description automatically generated">
            <a:extLst>
              <a:ext uri="{FF2B5EF4-FFF2-40B4-BE49-F238E27FC236}">
                <a16:creationId xmlns:a16="http://schemas.microsoft.com/office/drawing/2014/main" id="{E0ACEF81-4DA6-41B0-9CEC-C7594D73D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190" y="2098285"/>
            <a:ext cx="4550531" cy="333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59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D0F1-31A8-934B-8486-B9D3C52E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278" y="292339"/>
            <a:ext cx="8637586" cy="1188720"/>
          </a:xfrm>
        </p:spPr>
        <p:txBody>
          <a:bodyPr/>
          <a:lstStyle/>
          <a:p>
            <a:r>
              <a:rPr lang="en-US"/>
              <a:t>Paired Programming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E649D-E3FD-41FB-BA87-37C62725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8755"/>
            <a:ext cx="10515600" cy="50111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Tasks</a:t>
            </a:r>
            <a:endParaRPr lang="en-US" dirty="0"/>
          </a:p>
          <a:p>
            <a:pPr marL="571500" lvl="1" indent="-342900">
              <a:buAutoNum type="arabicPeriod"/>
            </a:pPr>
            <a:r>
              <a:rPr lang="en-US"/>
              <a:t>Create a list of car manufacturers (let's say 3)</a:t>
            </a:r>
          </a:p>
          <a:p>
            <a:pPr marL="571500" lvl="1" indent="-342900">
              <a:buAutoNum type="arabicPeriod"/>
            </a:pPr>
            <a:r>
              <a:rPr lang="en-US"/>
              <a:t>Add a new car manufacturer to the end of the list</a:t>
            </a:r>
          </a:p>
          <a:p>
            <a:pPr marL="571500" lvl="1" indent="-342900">
              <a:buAutoNum type="arabicPeriod"/>
            </a:pPr>
            <a:r>
              <a:rPr lang="en-US"/>
              <a:t>Add a new car manufacturer to index 2</a:t>
            </a:r>
            <a:endParaRPr lang="en-US" dirty="0"/>
          </a:p>
          <a:p>
            <a:pPr marL="571500" lvl="1" indent="-342900">
              <a:buAutoNum type="arabicPeriod"/>
            </a:pPr>
            <a:r>
              <a:rPr lang="en-US"/>
              <a:t>Display the car manufacturer at index 3</a:t>
            </a:r>
            <a:endParaRPr lang="en-US" dirty="0"/>
          </a:p>
          <a:p>
            <a:pPr marL="571500" lvl="1" indent="-342900">
              <a:buAutoNum type="arabicPeriod"/>
            </a:pPr>
            <a:r>
              <a:rPr lang="en-US"/>
              <a:t>Remove a car manufacturer</a:t>
            </a:r>
            <a:endParaRPr lang="en-US" dirty="0"/>
          </a:p>
          <a:p>
            <a:pPr marL="571500" lvl="1" indent="-342900">
              <a:buAutoNum type="arabicPeriod"/>
            </a:pPr>
            <a:r>
              <a:rPr lang="en-US"/>
              <a:t>Remove a car manufacturer and save it to a variable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235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/>
              <a:t>Lists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Organizing Lists</a:t>
            </a:r>
            <a:endParaRPr lang="en-US" dirty="0"/>
          </a:p>
          <a:p>
            <a:pPr lvl="1"/>
            <a:r>
              <a:rPr lang="en-US"/>
              <a:t>Sorting</a:t>
            </a:r>
            <a:endParaRPr lang="en-US" dirty="0"/>
          </a:p>
          <a:p>
            <a:pPr lvl="2"/>
            <a:r>
              <a:rPr lang="en-US"/>
              <a:t>.sort() - sort a list in natural (alphabetical) order. This is a permanent sort</a:t>
            </a:r>
          </a:p>
          <a:p>
            <a:pPr lvl="2"/>
            <a:r>
              <a:rPr lang="en-US"/>
              <a:t>sorted() - sort a list in natural (alphabetical) order. This will not affect actual order of list</a:t>
            </a:r>
          </a:p>
          <a:p>
            <a:pPr lvl="1"/>
            <a:r>
              <a:rPr lang="en-US"/>
              <a:t>.reverse() - reverses the order of the list permanently</a:t>
            </a:r>
          </a:p>
          <a:p>
            <a:pPr lvl="3"/>
            <a:r>
              <a:rPr lang="en-US"/>
              <a:t>This is not alphabetical, it's literally flipping the list as it is</a:t>
            </a:r>
          </a:p>
          <a:p>
            <a:pPr lvl="2"/>
            <a:endParaRPr lang="en-US" dirty="0"/>
          </a:p>
        </p:txBody>
      </p:sp>
      <p:pic>
        <p:nvPicPr>
          <p:cNvPr id="4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AC9A6746-5AD2-4677-98D0-BEC258B8A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71" y="4685855"/>
            <a:ext cx="3358225" cy="1645654"/>
          </a:xfrm>
          <a:prstGeom prst="rect">
            <a:avLst/>
          </a:prstGeom>
        </p:spPr>
      </p:pic>
      <p:pic>
        <p:nvPicPr>
          <p:cNvPr id="5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4BD236A-ACF3-4D6E-B512-AAFF393A1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38" y="4533636"/>
            <a:ext cx="3594180" cy="195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93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/>
              <a:t>Lists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Helpful built-in functions</a:t>
            </a:r>
            <a:endParaRPr lang="en-US" dirty="0"/>
          </a:p>
          <a:p>
            <a:pPr lvl="1"/>
            <a:r>
              <a:rPr lang="en-US" dirty="0" err="1"/>
              <a:t>len</a:t>
            </a:r>
            <a:r>
              <a:rPr lang="en-US" dirty="0"/>
              <a:t>() - returns integer number of elements in </a:t>
            </a:r>
            <a:r>
              <a:rPr lang="en-US"/>
              <a:t>an list</a:t>
            </a:r>
            <a:endParaRPr lang="en-US" dirty="0"/>
          </a:p>
          <a:p>
            <a:pPr lvl="2"/>
            <a:r>
              <a:rPr lang="en-US"/>
              <a:t>Unlike list </a:t>
            </a:r>
            <a:r>
              <a:rPr lang="en-US" dirty="0"/>
              <a:t>indexes, this does not start at 0, it starts at 1</a:t>
            </a:r>
          </a:p>
          <a:p>
            <a:pPr lvl="3"/>
            <a:r>
              <a:rPr lang="en-US" dirty="0">
                <a:highlight>
                  <a:srgbClr val="000000"/>
                </a:highlight>
              </a:rPr>
              <a:t> </a:t>
            </a:r>
            <a:r>
              <a:rPr lang="en-US" dirty="0" err="1">
                <a:highlight>
                  <a:srgbClr val="000000"/>
                </a:highlight>
              </a:rPr>
              <a:t>len</a:t>
            </a:r>
            <a:r>
              <a:rPr lang="en-US" dirty="0">
                <a:highlight>
                  <a:srgbClr val="000000"/>
                </a:highlight>
              </a:rPr>
              <a:t>( ['will', 'bob', '</a:t>
            </a:r>
            <a:r>
              <a:rPr lang="en-US" dirty="0" err="1">
                <a:highlight>
                  <a:srgbClr val="000000"/>
                </a:highlight>
              </a:rPr>
              <a:t>susan</a:t>
            </a:r>
            <a:r>
              <a:rPr lang="en-US" dirty="0">
                <a:highlight>
                  <a:srgbClr val="000000"/>
                </a:highlight>
              </a:rPr>
              <a:t>’] )  </a:t>
            </a:r>
            <a:r>
              <a:rPr lang="en-US" dirty="0"/>
              <a:t>will </a:t>
            </a:r>
            <a:r>
              <a:rPr lang="en-US"/>
              <a:t>return 3</a:t>
            </a:r>
          </a:p>
          <a:p>
            <a:pPr lvl="1"/>
            <a:r>
              <a:rPr lang="en-US"/>
              <a:t>sum() – returns the cumulative total of integer or float list</a:t>
            </a:r>
          </a:p>
          <a:p>
            <a:pPr lvl="1"/>
            <a:r>
              <a:rPr lang="en-US"/>
              <a:t>min() – returns the minimum value of a list</a:t>
            </a:r>
          </a:p>
          <a:p>
            <a:pPr lvl="1"/>
            <a:r>
              <a:rPr lang="en-US"/>
              <a:t>max() – returns the maximum value of a 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982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/>
              <a:t>Lists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Slicing</a:t>
            </a:r>
          </a:p>
          <a:p>
            <a:pPr lvl="1"/>
            <a:r>
              <a:rPr lang="en-US" dirty="0"/>
              <a:t>Syntax uses square brackets, with the first value being the start index, and the second value being the end index (non-inclusive)</a:t>
            </a:r>
          </a:p>
          <a:p>
            <a:pPr lvl="1"/>
            <a:r>
              <a:rPr lang="en-US" dirty="0"/>
              <a:t>The start and/or end can be excluded and the interpreter will start from the beginning or end at the last index</a:t>
            </a:r>
          </a:p>
          <a:p>
            <a:pPr lvl="1"/>
            <a:endParaRPr lang="en-US" dirty="0"/>
          </a:p>
        </p:txBody>
      </p:sp>
      <p:pic>
        <p:nvPicPr>
          <p:cNvPr id="4" name="Picture 4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0AAB46F1-32FF-49EB-85F0-DC9919487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858" y="3310081"/>
            <a:ext cx="4872892" cy="326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72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/>
              <a:t>Lists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Lists can contain other lists</a:t>
            </a:r>
          </a:p>
          <a:p>
            <a:pPr lvl="1"/>
            <a:r>
              <a:rPr lang="en-US"/>
              <a:t>Access internal lists using the same square bracket notation</a:t>
            </a:r>
            <a:endParaRPr lang="en-US" dirty="0"/>
          </a:p>
        </p:txBody>
      </p:sp>
      <p:pic>
        <p:nvPicPr>
          <p:cNvPr id="5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B057C833-D30E-41C1-9931-A05FBB997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121" y="2503391"/>
            <a:ext cx="6341533" cy="308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4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/>
              <a:t>Lists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 “quirk” of Python, but strings have similar functionality to lists</a:t>
            </a:r>
            <a:endParaRPr lang="en-US" dirty="0"/>
          </a:p>
          <a:p>
            <a:pPr lvl="1"/>
            <a:r>
              <a:rPr lang="en-US"/>
              <a:t>You can traverse a string in the same way using the square bracket notation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5" descr="A picture containing bottle&#10;&#10;Description automatically generated">
            <a:extLst>
              <a:ext uri="{FF2B5EF4-FFF2-40B4-BE49-F238E27FC236}">
                <a16:creationId xmlns:a16="http://schemas.microsoft.com/office/drawing/2014/main" id="{04D6FB7C-0757-4A34-84F2-D794EA9EA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554" y="2579427"/>
            <a:ext cx="4872892" cy="30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19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/>
              <a:t>Tuples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/>
              <a:t>Tuples are similar to lists, but they are 'immutable' (cannot change)</a:t>
            </a:r>
          </a:p>
          <a:p>
            <a:pPr lvl="1"/>
            <a:r>
              <a:rPr lang="en-US"/>
              <a:t>Declared using parenthesis ( )</a:t>
            </a:r>
          </a:p>
          <a:p>
            <a:pPr lvl="1"/>
            <a:r>
              <a:rPr lang="en-US"/>
              <a:t>Tuples with a single element need to have a trailing comma</a:t>
            </a:r>
          </a:p>
          <a:p>
            <a:pPr lvl="2"/>
            <a:r>
              <a:rPr lang="en-US"/>
              <a:t>Ex: </a:t>
            </a:r>
            <a:r>
              <a:rPr lang="en-US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 = (100,)</a:t>
            </a:r>
          </a:p>
        </p:txBody>
      </p:sp>
      <p:pic>
        <p:nvPicPr>
          <p:cNvPr id="5" name="Picture 5" descr="A picture containing food&#10;&#10;Description automatically generated">
            <a:extLst>
              <a:ext uri="{FF2B5EF4-FFF2-40B4-BE49-F238E27FC236}">
                <a16:creationId xmlns:a16="http://schemas.microsoft.com/office/drawing/2014/main" id="{FC63283E-B2D1-4EEF-82D2-BCA905008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191" y="3428999"/>
            <a:ext cx="7591617" cy="253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56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/>
              <a:t>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4"/>
            <a:ext cx="8596668" cy="314233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lvl="1"/>
            <a:r>
              <a:rPr lang="en-US" dirty="0"/>
              <a:t>Sets are unordered, unindexed, and </a:t>
            </a:r>
            <a:r>
              <a:rPr lang="en-US" u="sng" dirty="0"/>
              <a:t>don't allow duplicates</a:t>
            </a:r>
          </a:p>
          <a:p>
            <a:pPr lvl="1"/>
            <a:r>
              <a:rPr lang="en-US" dirty="0"/>
              <a:t>Declared using curly brackets { } with initial data or set()</a:t>
            </a:r>
          </a:p>
          <a:p>
            <a:pPr lvl="1"/>
            <a:r>
              <a:rPr lang="en-US" dirty="0"/>
              <a:t>Cannot get elements like you would a list, you'll have to loop through it</a:t>
            </a:r>
          </a:p>
          <a:p>
            <a:pPr lvl="2"/>
            <a:r>
              <a:rPr lang="en-US" dirty="0"/>
              <a:t>We will discuss “loop” in a later lecture</a:t>
            </a:r>
          </a:p>
          <a:p>
            <a:pPr lvl="1"/>
            <a:r>
              <a:rPr lang="en-US" dirty="0"/>
              <a:t>You can verify an element exists: </a:t>
            </a:r>
            <a:r>
              <a:rPr lang="en-US" sz="1700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element </a:t>
            </a:r>
            <a:r>
              <a:rPr lang="en-US" sz="170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 my_set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-&gt; returns True or False</a:t>
            </a:r>
          </a:p>
          <a:p>
            <a:pPr lvl="1"/>
            <a:r>
              <a:rPr lang="en-US" dirty="0"/>
              <a:t>Add elements </a:t>
            </a:r>
            <a:r>
              <a:rPr lang="en-US"/>
              <a:t>using .add</a:t>
            </a:r>
            <a:r>
              <a:rPr lang="en-US" dirty="0"/>
              <a:t>() </a:t>
            </a:r>
            <a:r>
              <a:rPr lang="en-US"/>
              <a:t>or .update</a:t>
            </a:r>
            <a:r>
              <a:rPr lang="en-US" dirty="0"/>
              <a:t>() -&gt; update is for multiple elements</a:t>
            </a:r>
          </a:p>
          <a:p>
            <a:pPr lvl="1"/>
            <a:r>
              <a:rPr lang="en-US" dirty="0"/>
              <a:t>Remove elements </a:t>
            </a:r>
            <a:r>
              <a:rPr lang="en-US"/>
              <a:t>using .remove</a:t>
            </a:r>
            <a:r>
              <a:rPr lang="en-US" dirty="0"/>
              <a:t>() </a:t>
            </a:r>
            <a:r>
              <a:rPr lang="en-US"/>
              <a:t>or .discard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remove() will throw error if element doesn’t exist, discard() won't throw that error</a:t>
            </a:r>
          </a:p>
          <a:p>
            <a:pPr lvl="1"/>
            <a:endParaRPr lang="en-US" dirty="0"/>
          </a:p>
        </p:txBody>
      </p:sp>
      <p:pic>
        <p:nvPicPr>
          <p:cNvPr id="4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DD9F2A48-8117-4CF0-8DD6-70F11B4F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39" y="4630951"/>
            <a:ext cx="4785046" cy="2063998"/>
          </a:xfrm>
          <a:prstGeom prst="rect">
            <a:avLst/>
          </a:prstGeom>
        </p:spPr>
      </p:pic>
      <p:pic>
        <p:nvPicPr>
          <p:cNvPr id="6" name="Picture 6" descr="A picture containing people&#10;&#10;Description automatically generated">
            <a:extLst>
              <a:ext uri="{FF2B5EF4-FFF2-40B4-BE49-F238E27FC236}">
                <a16:creationId xmlns:a16="http://schemas.microsoft.com/office/drawing/2014/main" id="{06E87469-E8E4-4848-8D45-F8E13FF0A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783576"/>
            <a:ext cx="5738511" cy="175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33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D0F1-31A8-934B-8486-B9D3C52E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92339"/>
            <a:ext cx="7729728" cy="1188720"/>
          </a:xfrm>
        </p:spPr>
        <p:txBody>
          <a:bodyPr/>
          <a:lstStyle/>
          <a:p>
            <a:r>
              <a:rPr lang="en-US"/>
              <a:t>Dictionaries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E649D-E3FD-41FB-BA87-37C62725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8755"/>
            <a:ext cx="10515600" cy="501111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/>
              <a:t>A dictionary in Python is a collection of key-value pairs</a:t>
            </a:r>
            <a:endParaRPr lang="en-US" dirty="0"/>
          </a:p>
          <a:p>
            <a:r>
              <a:rPr lang="en-US"/>
              <a:t>Each key is connected to a value, and you use this key to access the value associated with it</a:t>
            </a:r>
            <a:endParaRPr lang="en-US" dirty="0"/>
          </a:p>
          <a:p>
            <a:r>
              <a:rPr lang="en-US"/>
              <a:t>Dictionaries are wrapped in curly braces/brackets: { }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Notice that key/value pairs are separated by comma, and that the pair itself uses a colon to separate the key from the value</a:t>
            </a:r>
            <a:endParaRPr lang="en-US" dirty="0"/>
          </a:p>
          <a:p>
            <a:r>
              <a:rPr lang="en-US"/>
              <a:t>Dictionaries can be initialized with no data (so just empty curly brackets)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9B50198E-59C2-4405-ACE6-E7B05ABCC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982" y="3307124"/>
            <a:ext cx="7402010" cy="123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26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D0F1-31A8-934B-8486-B9D3C52E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92339"/>
            <a:ext cx="7729728" cy="1188720"/>
          </a:xfrm>
        </p:spPr>
        <p:txBody>
          <a:bodyPr/>
          <a:lstStyle/>
          <a:p>
            <a:r>
              <a:rPr lang="en-US"/>
              <a:t>Dictionaries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E649D-E3FD-41FB-BA87-37C62725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8755"/>
            <a:ext cx="10515600" cy="501111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/>
              <a:t>How to access values</a:t>
            </a:r>
            <a:endParaRPr lang="en-US" dirty="0"/>
          </a:p>
          <a:p>
            <a:pPr lvl="1"/>
            <a:r>
              <a:rPr lang="en-US"/>
              <a:t>Put the key inside a set of brackets after the dictionary variable name</a:t>
            </a:r>
            <a:endParaRPr lang="en-US" dirty="0"/>
          </a:p>
          <a:p>
            <a:pPr lvl="1"/>
            <a:r>
              <a:rPr lang="en-US"/>
              <a:t>Can use variables in the brackets, if the variable value matches a key, it will return that key's value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/>
              <a:t>.get(key, default) - gets the value if present, otherwise return default (if provided)</a:t>
            </a:r>
            <a:endParaRPr lang="en-US" dirty="0"/>
          </a:p>
          <a:p>
            <a:r>
              <a:rPr lang="en-US"/>
              <a:t>Adding new key/value pairs</a:t>
            </a:r>
          </a:p>
          <a:p>
            <a:pPr lvl="1"/>
            <a:r>
              <a:rPr lang="en-US"/>
              <a:t>Similar to access except for the initialize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/>
              <a:t>NOTE: Since Python 3.7, dictionaries maintain the order in which they were defined</a:t>
            </a:r>
            <a:endParaRPr lang="en-US" dirty="0"/>
          </a:p>
        </p:txBody>
      </p:sp>
      <p:pic>
        <p:nvPicPr>
          <p:cNvPr id="5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659E6D4C-B75C-4FDA-9FC5-178E2591C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858" y="2726442"/>
            <a:ext cx="1652165" cy="811795"/>
          </a:xfrm>
          <a:prstGeom prst="rect">
            <a:avLst/>
          </a:prstGeom>
        </p:spPr>
      </p:pic>
      <p:pic>
        <p:nvPicPr>
          <p:cNvPr id="6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5E9C30D7-B428-4F3D-9C94-6CE4D4117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244" y="4972728"/>
            <a:ext cx="6263832" cy="85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78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D0F1-31A8-934B-8486-B9D3C52E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92339"/>
            <a:ext cx="7729728" cy="1188720"/>
          </a:xfrm>
        </p:spPr>
        <p:txBody>
          <a:bodyPr/>
          <a:lstStyle/>
          <a:p>
            <a:r>
              <a:rPr lang="en-US"/>
              <a:t>Dictionaries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E649D-E3FD-41FB-BA87-37C62725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8755"/>
            <a:ext cx="10515600" cy="50111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/>
              <a:t>Modifying dictionaries</a:t>
            </a:r>
          </a:p>
          <a:p>
            <a:pPr lvl="1"/>
            <a:r>
              <a:rPr lang="en-US" sz="1400" dirty="0"/>
              <a:t>Same as adding an element, except the key is going to be an existing key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r>
              <a:rPr lang="en-US" sz="1600" dirty="0"/>
              <a:t>Removing elements</a:t>
            </a:r>
          </a:p>
          <a:p>
            <a:pPr lvl="1"/>
            <a:r>
              <a:rPr lang="en-US" sz="1400"/>
              <a:t>.pop(key) </a:t>
            </a:r>
            <a:r>
              <a:rPr lang="en-US" sz="1400" dirty="0"/>
              <a:t>- removes key/value pair from dictionary and </a:t>
            </a:r>
            <a:r>
              <a:rPr lang="en-US" sz="1400"/>
              <a:t>returns value by specified key</a:t>
            </a:r>
            <a:endParaRPr lang="en-US" sz="1400" dirty="0"/>
          </a:p>
          <a:p>
            <a:pPr lvl="1"/>
            <a:r>
              <a:rPr lang="en-US" sz="1400"/>
              <a:t>.popitem</a:t>
            </a:r>
            <a:r>
              <a:rPr lang="en-US" sz="1400" dirty="0"/>
              <a:t>() - removes last (LIFO) key/value pair and returns a tuple containing key</a:t>
            </a:r>
            <a:r>
              <a:rPr lang="en-US" sz="1400"/>
              <a:t>, value</a:t>
            </a:r>
          </a:p>
          <a:p>
            <a:pPr lvl="2"/>
            <a:r>
              <a:rPr lang="en-US" sz="1200"/>
              <a:t>Prior to Python 3.7, this would remove a random key/value pair</a:t>
            </a:r>
            <a:endParaRPr lang="en-US" sz="1200" dirty="0"/>
          </a:p>
          <a:p>
            <a:pPr lvl="1"/>
            <a:r>
              <a:rPr lang="en-US" sz="1400" dirty="0"/>
              <a:t>del – removes key/value pair from dictionary *Note, this is a special case that not actually a built in for dictionaries</a:t>
            </a:r>
          </a:p>
          <a:p>
            <a:pPr lvl="1"/>
            <a:r>
              <a:rPr lang="en-US" sz="1400"/>
              <a:t>.clear</a:t>
            </a:r>
            <a:r>
              <a:rPr lang="en-US" sz="1400" dirty="0"/>
              <a:t>() - empties dictionary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  <p:pic>
        <p:nvPicPr>
          <p:cNvPr id="3" name="Picture 4" descr="A picture containing photo, orange, holding, display&#10;&#10;Description automatically generated">
            <a:extLst>
              <a:ext uri="{FF2B5EF4-FFF2-40B4-BE49-F238E27FC236}">
                <a16:creationId xmlns:a16="http://schemas.microsoft.com/office/drawing/2014/main" id="{F3E3B2BC-18C6-426C-8968-174065F8B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565" y="2318466"/>
            <a:ext cx="5559706" cy="986434"/>
          </a:xfrm>
          <a:prstGeom prst="rect">
            <a:avLst/>
          </a:prstGeom>
        </p:spPr>
      </p:pic>
      <p:pic>
        <p:nvPicPr>
          <p:cNvPr id="5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738BB81-A853-479F-AB43-0CACC687E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293" y="5324004"/>
            <a:ext cx="6427806" cy="153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57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D0F1-31A8-934B-8486-B9D3C52E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92339"/>
            <a:ext cx="7729728" cy="1188720"/>
          </a:xfrm>
        </p:spPr>
        <p:txBody>
          <a:bodyPr/>
          <a:lstStyle/>
          <a:p>
            <a:r>
              <a:rPr lang="en-US"/>
              <a:t>Paired Programming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E649D-E3FD-41FB-BA87-37C62725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8755"/>
            <a:ext cx="10515600" cy="50111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Tasks</a:t>
            </a:r>
            <a:endParaRPr lang="en-US" dirty="0"/>
          </a:p>
          <a:p>
            <a:pPr marL="571500" lvl="1" indent="-342900">
              <a:buAutoNum type="arabicPeriod"/>
            </a:pPr>
            <a:r>
              <a:rPr lang="en-US"/>
              <a:t>Create a dictionary that contains student information (name, s#, major)</a:t>
            </a:r>
          </a:p>
          <a:p>
            <a:pPr marL="571500" lvl="1" indent="-342900">
              <a:buAutoNum type="arabicPeriod"/>
            </a:pPr>
            <a:r>
              <a:rPr lang="en-US"/>
              <a:t>Add an entry for age</a:t>
            </a:r>
            <a:endParaRPr lang="en-US" dirty="0"/>
          </a:p>
          <a:p>
            <a:pPr marL="571500" lvl="1" indent="-342900">
              <a:buAutoNum type="arabicPeriod"/>
            </a:pPr>
            <a:r>
              <a:rPr lang="en-US"/>
              <a:t>Add an entry for credits earned</a:t>
            </a:r>
            <a:endParaRPr lang="en-US" dirty="0"/>
          </a:p>
          <a:p>
            <a:pPr marL="571500" lvl="1" indent="-342900">
              <a:buAutoNum type="arabicPeriod"/>
            </a:pPr>
            <a:r>
              <a:rPr lang="en-US"/>
              <a:t>Remove age entry</a:t>
            </a:r>
            <a:endParaRPr lang="en-US" dirty="0"/>
          </a:p>
          <a:p>
            <a:pPr marL="571500" lvl="1" indent="-342900">
              <a:buAutoNum type="arabicPeriod"/>
            </a:pPr>
            <a:r>
              <a:rPr lang="en-US"/>
              <a:t>Change credits earned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70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8FC7-19CE-4B74-A58B-3E368022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0126-835C-4E21-8244-1EF651394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simplest way to get user input is to use the input() built-in function</a:t>
            </a:r>
          </a:p>
          <a:p>
            <a:r>
              <a:rPr lang="en-US"/>
              <a:t>Depending on the type of data you’re asking for, you may need to “cast” the input to that data type – See L2_Input.py (below)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96B7B-1602-46B7-A2A7-4187618B1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760" y="3830312"/>
            <a:ext cx="6517301" cy="29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03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Read chapter 3 </a:t>
            </a:r>
          </a:p>
          <a:p>
            <a:r>
              <a:rPr lang="en-US"/>
              <a:t>Programming Assignment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2108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1049</TotalTime>
  <Words>1397</Words>
  <Application>Microsoft Office PowerPoint</Application>
  <PresentationFormat>Widescreen</PresentationFormat>
  <Paragraphs>179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Tw Cen MT</vt:lpstr>
      <vt:lpstr>Circuit</vt:lpstr>
      <vt:lpstr>CSC 119:Intro to Programming Lecture 2</vt:lpstr>
      <vt:lpstr>Last Lecture</vt:lpstr>
      <vt:lpstr>Last Week – Assigned Reading</vt:lpstr>
      <vt:lpstr>Last Week – Assigned Reading</vt:lpstr>
      <vt:lpstr>Last Week – Assigned Reading</vt:lpstr>
      <vt:lpstr>Paired Programming</vt:lpstr>
      <vt:lpstr>Let’s Jump In</vt:lpstr>
      <vt:lpstr>Lists</vt:lpstr>
      <vt:lpstr>lists</vt:lpstr>
      <vt:lpstr>Lists</vt:lpstr>
      <vt:lpstr>Paired Programming</vt:lpstr>
      <vt:lpstr>Lists</vt:lpstr>
      <vt:lpstr>Lists</vt:lpstr>
      <vt:lpstr>Lists</vt:lpstr>
      <vt:lpstr>Lists</vt:lpstr>
      <vt:lpstr>Lists</vt:lpstr>
      <vt:lpstr>Tuples</vt:lpstr>
      <vt:lpstr>Sets</vt:lpstr>
      <vt:lpstr>Dictionaries</vt:lpstr>
      <vt:lpstr>Dictionaries</vt:lpstr>
      <vt:lpstr>Dictionaries</vt:lpstr>
      <vt:lpstr>Paired Programming</vt:lpstr>
      <vt:lpstr>Getting user input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119:Intro to Programming</dc:title>
  <dc:creator>William Estes</dc:creator>
  <cp:lastModifiedBy>William</cp:lastModifiedBy>
  <cp:revision>1190</cp:revision>
  <dcterms:created xsi:type="dcterms:W3CDTF">2020-08-14T15:37:54Z</dcterms:created>
  <dcterms:modified xsi:type="dcterms:W3CDTF">2021-12-28T20:19:38Z</dcterms:modified>
</cp:coreProperties>
</file>