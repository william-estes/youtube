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968" r:id="rId1"/>
  </p:sldMasterIdLst>
  <p:notesMasterIdLst>
    <p:notesMasterId r:id="rId23"/>
  </p:notesMasterIdLst>
  <p:sldIdLst>
    <p:sldId id="256" r:id="rId2"/>
    <p:sldId id="264" r:id="rId3"/>
    <p:sldId id="258" r:id="rId4"/>
    <p:sldId id="260" r:id="rId5"/>
    <p:sldId id="261" r:id="rId6"/>
    <p:sldId id="262" r:id="rId7"/>
    <p:sldId id="263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8" r:id="rId16"/>
    <p:sldId id="272" r:id="rId17"/>
    <p:sldId id="273" r:id="rId18"/>
    <p:sldId id="279" r:id="rId19"/>
    <p:sldId id="274" r:id="rId20"/>
    <p:sldId id="275" r:id="rId21"/>
    <p:sldId id="280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7878"/>
    <p:restoredTop sz="95418" autoAdjust="0"/>
  </p:normalViewPr>
  <p:slideViewPr>
    <p:cSldViewPr snapToGrid="0" snapToObjects="1">
      <p:cViewPr varScale="1">
        <p:scale>
          <a:sx n="127" d="100"/>
          <a:sy n="127" d="100"/>
        </p:scale>
        <p:origin x="402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70534A9-6018-2047-913D-1953A2F6D512}" type="datetimeFigureOut">
              <a:rPr lang="en-US" smtClean="0"/>
              <a:t>12/27/2021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AE8F9F-6DA5-A84A-A6AC-9F6E4BC07F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65373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AE8F9F-6DA5-A84A-A6AC-9F6E4BC07FF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98076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AE8F9F-6DA5-A84A-A6AC-9F6E4BC07FF0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9278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B3A65DBF-A9F0-C148-993C-2303F706A4CD}" type="datetimeFigureOut">
              <a:rPr lang="en-US" smtClean="0"/>
              <a:t>12/27/2021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74CA783B-3C34-F442-83C3-8480C4EF33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67208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65DBF-A9F0-C148-993C-2303F706A4CD}" type="datetimeFigureOut">
              <a:rPr lang="en-US" smtClean="0"/>
              <a:t>12/27/2021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CA783B-3C34-F442-83C3-8480C4EF33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66686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65DBF-A9F0-C148-993C-2303F706A4CD}" type="datetimeFigureOut">
              <a:rPr lang="en-US" smtClean="0"/>
              <a:t>12/27/2021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CA783B-3C34-F442-83C3-8480C4EF33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00904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65DBF-A9F0-C148-993C-2303F706A4CD}" type="datetimeFigureOut">
              <a:rPr lang="en-US" smtClean="0"/>
              <a:t>12/27/2021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CA783B-3C34-F442-83C3-8480C4EF33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2033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65DBF-A9F0-C148-993C-2303F706A4CD}" type="datetimeFigureOut">
              <a:rPr lang="en-US" smtClean="0"/>
              <a:t>12/27/2021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CA783B-3C34-F442-83C3-8480C4EF33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55934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65DBF-A9F0-C148-993C-2303F706A4CD}" type="datetimeFigureOut">
              <a:rPr lang="en-US" smtClean="0"/>
              <a:t>12/27/2021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CA783B-3C34-F442-83C3-8480C4EF33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72005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65DBF-A9F0-C148-993C-2303F706A4CD}" type="datetimeFigureOut">
              <a:rPr lang="en-US" smtClean="0"/>
              <a:t>12/27/2021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CA783B-3C34-F442-83C3-8480C4EF33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6735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65DBF-A9F0-C148-993C-2303F706A4CD}" type="datetimeFigureOut">
              <a:rPr lang="en-US" smtClean="0"/>
              <a:t>12/27/2021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CA783B-3C34-F442-83C3-8480C4EF33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31565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65DBF-A9F0-C148-993C-2303F706A4CD}" type="datetimeFigureOut">
              <a:rPr lang="en-US" smtClean="0"/>
              <a:t>12/27/2021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CA783B-3C34-F442-83C3-8480C4EF33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77617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65DBF-A9F0-C148-993C-2303F706A4CD}" type="datetimeFigureOut">
              <a:rPr lang="en-US" smtClean="0"/>
              <a:t>12/27/2021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CA783B-3C34-F442-83C3-8480C4EF33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69016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65DBF-A9F0-C148-993C-2303F706A4CD}" type="datetimeFigureOut">
              <a:rPr lang="en-US" smtClean="0"/>
              <a:t>12/27/2021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CA783B-3C34-F442-83C3-8480C4EF33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852124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65DBF-A9F0-C148-993C-2303F706A4CD}" type="datetimeFigureOut">
              <a:rPr lang="en-US" smtClean="0"/>
              <a:t>12/27/2021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CA783B-3C34-F442-83C3-8480C4EF33D1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91018990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65DBF-A9F0-C148-993C-2303F706A4CD}" type="datetimeFigureOut">
              <a:rPr lang="en-US" smtClean="0"/>
              <a:t>12/27/2021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CA783B-3C34-F442-83C3-8480C4EF33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85752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65DBF-A9F0-C148-993C-2303F706A4CD}" type="datetimeFigureOut">
              <a:rPr lang="en-US" smtClean="0"/>
              <a:t>12/27/2021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CA783B-3C34-F442-83C3-8480C4EF33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065964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65DBF-A9F0-C148-993C-2303F706A4CD}" type="datetimeFigureOut">
              <a:rPr lang="en-US" smtClean="0"/>
              <a:t>12/27/2021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CA783B-3C34-F442-83C3-8480C4EF33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941811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65DBF-A9F0-C148-993C-2303F706A4CD}" type="datetimeFigureOut">
              <a:rPr lang="en-US" smtClean="0"/>
              <a:t>12/27/2021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CA783B-3C34-F442-83C3-8480C4EF33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848451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65DBF-A9F0-C148-993C-2303F706A4CD}" type="datetimeFigureOut">
              <a:rPr lang="en-US" smtClean="0"/>
              <a:t>12/27/2021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CA783B-3C34-F442-83C3-8480C4EF33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57525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3A65DBF-A9F0-C148-993C-2303F706A4CD}" type="datetimeFigureOut">
              <a:rPr lang="en-US" smtClean="0"/>
              <a:t>12/27/2021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CA783B-3C34-F442-83C3-8480C4EF33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065125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969" r:id="rId1"/>
    <p:sldLayoutId id="2147483970" r:id="rId2"/>
    <p:sldLayoutId id="2147483971" r:id="rId3"/>
    <p:sldLayoutId id="2147483972" r:id="rId4"/>
    <p:sldLayoutId id="2147483973" r:id="rId5"/>
    <p:sldLayoutId id="2147483974" r:id="rId6"/>
    <p:sldLayoutId id="2147483975" r:id="rId7"/>
    <p:sldLayoutId id="2147483976" r:id="rId8"/>
    <p:sldLayoutId id="2147483977" r:id="rId9"/>
    <p:sldLayoutId id="2147483978" r:id="rId10"/>
    <p:sldLayoutId id="2147483979" r:id="rId11"/>
    <p:sldLayoutId id="2147483980" r:id="rId12"/>
    <p:sldLayoutId id="2147483981" r:id="rId13"/>
    <p:sldLayoutId id="2147483982" r:id="rId14"/>
    <p:sldLayoutId id="2147483983" r:id="rId15"/>
    <p:sldLayoutId id="2147483984" r:id="rId16"/>
    <p:sldLayoutId id="2147483985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3schools.com/python/python_ref_functions.asp" TargetMode="External"/><Relationship Id="rId2" Type="http://schemas.openxmlformats.org/officeDocument/2006/relationships/hyperlink" Target="https://www.w3schools.com/python/python_ref_keywords.asp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stdtypes.html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djjUDMsAUmY" TargetMode="External"/><Relationship Id="rId2" Type="http://schemas.openxmlformats.org/officeDocument/2006/relationships/hyperlink" Target="https://www.python.org/downloads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48000"/>
                <a:hueMod val="106000"/>
                <a:satMod val="140000"/>
                <a:lumMod val="42000"/>
              </a:schemeClr>
              <a:schemeClr val="bg2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4D50C3BF-4EC6-4075-8C5A-BB4D936693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12192003" cy="6858001"/>
            <a:chOff x="0" y="-1"/>
            <a:chExt cx="12192003" cy="6858001"/>
          </a:xfrm>
        </p:grpSpPr>
        <p:sp useBgFill="1">
          <p:nvSpPr>
            <p:cNvPr id="10" name="Rectangle 9">
              <a:extLst>
                <a:ext uri="{FF2B5EF4-FFF2-40B4-BE49-F238E27FC236}">
                  <a16:creationId xmlns:a16="http://schemas.microsoft.com/office/drawing/2014/main" id="{AAD5EEF9-647D-437D-909D-552158996D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-1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1" name="Picture 2">
              <a:extLst>
                <a:ext uri="{FF2B5EF4-FFF2-40B4-BE49-F238E27FC236}">
                  <a16:creationId xmlns:a16="http://schemas.microsoft.com/office/drawing/2014/main" id="{AD572E06-C69D-4C73-907F-E960818C98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 noChangeArrowheads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>
            <a:blip r:embed="rId3">
              <a:alphaModFix amt="30000"/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-1"/>
              <a:ext cx="12192003" cy="6858001"/>
            </a:xfrm>
            <a:prstGeom prst="rect">
              <a:avLst/>
            </a:prstGeom>
            <a:noFill/>
            <a:extLst>
              <a:ext uri="{909E8E84-426E-40dd-AFC4-6F175D3DCCD1}">
                <a14:hiddenFill xmlns:p14="http://schemas.microsoft.com/office/powerpoint/2010/main" xmlns:a14="http://schemas.microsoft.com/office/drawing/2010/main" xmlns:a16="http://schemas.microsoft.com/office/drawing/2014/main" xmlns="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73FCCB2-5FFC-AF47-90CA-9CC12D113D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70066" y="1122363"/>
            <a:ext cx="5397933" cy="2387600"/>
          </a:xfrm>
        </p:spPr>
        <p:txBody>
          <a:bodyPr>
            <a:normAutofit/>
          </a:bodyPr>
          <a:lstStyle/>
          <a:p>
            <a:r>
              <a:rPr lang="en-US" dirty="0"/>
              <a:t>CSC 119:Intro to Programming</a:t>
            </a:r>
          </a:p>
        </p:txBody>
      </p:sp>
      <p:pic>
        <p:nvPicPr>
          <p:cNvPr id="5" name="Picture 4" descr="101010 data lines to infinity">
            <a:extLst>
              <a:ext uri="{FF2B5EF4-FFF2-40B4-BE49-F238E27FC236}">
                <a16:creationId xmlns:a16="http://schemas.microsoft.com/office/drawing/2014/main" id="{56B81A8B-81F0-4767-A84D-30A6CA23644A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9869" r="26365" b="1"/>
          <a:stretch/>
        </p:blipFill>
        <p:spPr>
          <a:xfrm>
            <a:off x="-5597" y="10"/>
            <a:ext cx="4635583" cy="6857990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5C427DC4-D0C8-4AD1-971C-C179999E43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2305051" cy="6858001"/>
            <a:chOff x="0" y="0"/>
            <a:chExt cx="2305051" cy="6858001"/>
          </a:xfrm>
          <a:solidFill>
            <a:schemeClr val="tx1">
              <a:alpha val="70000"/>
            </a:schemeClr>
          </a:solidFill>
          <a:effectLst/>
        </p:grpSpPr>
        <p:sp>
          <p:nvSpPr>
            <p:cNvPr id="14" name="Rectangle 5">
              <a:extLst>
                <a:ext uri="{FF2B5EF4-FFF2-40B4-BE49-F238E27FC236}">
                  <a16:creationId xmlns:a16="http://schemas.microsoft.com/office/drawing/2014/main" id="{11827C78-913D-484C-8C41-03DA314252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5" name="Freeform 6">
              <a:extLst>
                <a:ext uri="{FF2B5EF4-FFF2-40B4-BE49-F238E27FC236}">
                  <a16:creationId xmlns:a16="http://schemas.microsoft.com/office/drawing/2014/main" id="{B6F8B17C-D826-4328-938A-3EA29923DD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6" name="Freeform 7">
              <a:extLst>
                <a:ext uri="{FF2B5EF4-FFF2-40B4-BE49-F238E27FC236}">
                  <a16:creationId xmlns:a16="http://schemas.microsoft.com/office/drawing/2014/main" id="{39D88DB7-6249-4F7B-BE6A-FCC6D49786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Rectangle 8">
              <a:extLst>
                <a:ext uri="{FF2B5EF4-FFF2-40B4-BE49-F238E27FC236}">
                  <a16:creationId xmlns:a16="http://schemas.microsoft.com/office/drawing/2014/main" id="{756D5198-7167-4B16-AB98-5B4E36925F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8" name="Freeform 9">
              <a:extLst>
                <a:ext uri="{FF2B5EF4-FFF2-40B4-BE49-F238E27FC236}">
                  <a16:creationId xmlns:a16="http://schemas.microsoft.com/office/drawing/2014/main" id="{DA8DAFD5-0534-4B77-9BDA-835065CBA0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0">
              <a:extLst>
                <a:ext uri="{FF2B5EF4-FFF2-40B4-BE49-F238E27FC236}">
                  <a16:creationId xmlns:a16="http://schemas.microsoft.com/office/drawing/2014/main" id="{7CA8B15F-CF03-4D11-8AEC-82E80157B1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1">
              <a:extLst>
                <a:ext uri="{FF2B5EF4-FFF2-40B4-BE49-F238E27FC236}">
                  <a16:creationId xmlns:a16="http://schemas.microsoft.com/office/drawing/2014/main" id="{459FF9F8-7A9B-4AA7-A132-383AF348590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2">
              <a:extLst>
                <a:ext uri="{FF2B5EF4-FFF2-40B4-BE49-F238E27FC236}">
                  <a16:creationId xmlns:a16="http://schemas.microsoft.com/office/drawing/2014/main" id="{CBA02FB8-E42C-45DA-AAF7-3397620DAD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3">
              <a:extLst>
                <a:ext uri="{FF2B5EF4-FFF2-40B4-BE49-F238E27FC236}">
                  <a16:creationId xmlns:a16="http://schemas.microsoft.com/office/drawing/2014/main" id="{9929394A-93E2-4CC7-BE87-C83F6A8E79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4">
              <a:extLst>
                <a:ext uri="{FF2B5EF4-FFF2-40B4-BE49-F238E27FC236}">
                  <a16:creationId xmlns:a16="http://schemas.microsoft.com/office/drawing/2014/main" id="{0D9C5509-FF48-4A4B-93E5-54BB49A4AE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5">
              <a:extLst>
                <a:ext uri="{FF2B5EF4-FFF2-40B4-BE49-F238E27FC236}">
                  <a16:creationId xmlns:a16="http://schemas.microsoft.com/office/drawing/2014/main" id="{8D8D120B-EEA9-48FD-8996-23C6C46E19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6">
              <a:extLst>
                <a:ext uri="{FF2B5EF4-FFF2-40B4-BE49-F238E27FC236}">
                  <a16:creationId xmlns:a16="http://schemas.microsoft.com/office/drawing/2014/main" id="{3C6F42D5-B202-46C6-8515-D98407842B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7">
              <a:extLst>
                <a:ext uri="{FF2B5EF4-FFF2-40B4-BE49-F238E27FC236}">
                  <a16:creationId xmlns:a16="http://schemas.microsoft.com/office/drawing/2014/main" id="{63970DAE-ED0B-4C16-A738-7D472097C3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18">
              <a:extLst>
                <a:ext uri="{FF2B5EF4-FFF2-40B4-BE49-F238E27FC236}">
                  <a16:creationId xmlns:a16="http://schemas.microsoft.com/office/drawing/2014/main" id="{3057B46C-1C3D-49B0-BFA0-F8C5242339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19">
              <a:extLst>
                <a:ext uri="{FF2B5EF4-FFF2-40B4-BE49-F238E27FC236}">
                  <a16:creationId xmlns:a16="http://schemas.microsoft.com/office/drawing/2014/main" id="{48CF20C5-3838-4173-A8B8-B2F2C98F16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0">
              <a:extLst>
                <a:ext uri="{FF2B5EF4-FFF2-40B4-BE49-F238E27FC236}">
                  <a16:creationId xmlns:a16="http://schemas.microsoft.com/office/drawing/2014/main" id="{ECE30E10-7578-4E62-ACBF-10C479060C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1">
              <a:extLst>
                <a:ext uri="{FF2B5EF4-FFF2-40B4-BE49-F238E27FC236}">
                  <a16:creationId xmlns:a16="http://schemas.microsoft.com/office/drawing/2014/main" id="{944967BD-A875-4678-99F4-7F57BB00D9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2">
              <a:extLst>
                <a:ext uri="{FF2B5EF4-FFF2-40B4-BE49-F238E27FC236}">
                  <a16:creationId xmlns:a16="http://schemas.microsoft.com/office/drawing/2014/main" id="{39B8890D-782F-4441-99F8-24D555ADB9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3">
              <a:extLst>
                <a:ext uri="{FF2B5EF4-FFF2-40B4-BE49-F238E27FC236}">
                  <a16:creationId xmlns:a16="http://schemas.microsoft.com/office/drawing/2014/main" id="{BD2843C9-86AC-4823-8D89-66B62F94E2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4">
              <a:extLst>
                <a:ext uri="{FF2B5EF4-FFF2-40B4-BE49-F238E27FC236}">
                  <a16:creationId xmlns:a16="http://schemas.microsoft.com/office/drawing/2014/main" id="{1B519EA3-915E-4EAD-A40F-32168E8E1F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5">
              <a:extLst>
                <a:ext uri="{FF2B5EF4-FFF2-40B4-BE49-F238E27FC236}">
                  <a16:creationId xmlns:a16="http://schemas.microsoft.com/office/drawing/2014/main" id="{7A321902-1E1D-4964-AF8F-D133DEA58C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6">
              <a:extLst>
                <a:ext uri="{FF2B5EF4-FFF2-40B4-BE49-F238E27FC236}">
                  <a16:creationId xmlns:a16="http://schemas.microsoft.com/office/drawing/2014/main" id="{112E54C4-91A4-40EC-9182-578C6684F1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7">
              <a:extLst>
                <a:ext uri="{FF2B5EF4-FFF2-40B4-BE49-F238E27FC236}">
                  <a16:creationId xmlns:a16="http://schemas.microsoft.com/office/drawing/2014/main" id="{8FA627D4-711B-43E1-956F-E83777F1E3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28">
              <a:extLst>
                <a:ext uri="{FF2B5EF4-FFF2-40B4-BE49-F238E27FC236}">
                  <a16:creationId xmlns:a16="http://schemas.microsoft.com/office/drawing/2014/main" id="{A52861B4-1F11-4F96-B2C6-6CF1ABF3EA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29">
              <a:extLst>
                <a:ext uri="{FF2B5EF4-FFF2-40B4-BE49-F238E27FC236}">
                  <a16:creationId xmlns:a16="http://schemas.microsoft.com/office/drawing/2014/main" id="{8B08E382-69A6-4F49-B9D0-30282ABF20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0">
              <a:extLst>
                <a:ext uri="{FF2B5EF4-FFF2-40B4-BE49-F238E27FC236}">
                  <a16:creationId xmlns:a16="http://schemas.microsoft.com/office/drawing/2014/main" id="{C90814EC-520D-44F5-86DC-EC86DC654A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Freeform 31">
              <a:extLst>
                <a:ext uri="{FF2B5EF4-FFF2-40B4-BE49-F238E27FC236}">
                  <a16:creationId xmlns:a16="http://schemas.microsoft.com/office/drawing/2014/main" id="{F912B22F-31DB-46D6-8E4E-54EBED6B99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1" name="Freeform 32">
              <a:extLst>
                <a:ext uri="{FF2B5EF4-FFF2-40B4-BE49-F238E27FC236}">
                  <a16:creationId xmlns:a16="http://schemas.microsoft.com/office/drawing/2014/main" id="{051A22F2-66B3-4FF2-89BD-CD02C26814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Rectangle 33">
              <a:extLst>
                <a:ext uri="{FF2B5EF4-FFF2-40B4-BE49-F238E27FC236}">
                  <a16:creationId xmlns:a16="http://schemas.microsoft.com/office/drawing/2014/main" id="{4C2C276D-BE72-4024-971D-6777F9524C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3" name="Freeform 34">
              <a:extLst>
                <a:ext uri="{FF2B5EF4-FFF2-40B4-BE49-F238E27FC236}">
                  <a16:creationId xmlns:a16="http://schemas.microsoft.com/office/drawing/2014/main" id="{6AFDDC6B-3AFC-48D7-95CF-5FBB511D84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5">
              <a:extLst>
                <a:ext uri="{FF2B5EF4-FFF2-40B4-BE49-F238E27FC236}">
                  <a16:creationId xmlns:a16="http://schemas.microsoft.com/office/drawing/2014/main" id="{FFAA444D-5CF5-4864-A37F-A111C8FF89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6">
              <a:extLst>
                <a:ext uri="{FF2B5EF4-FFF2-40B4-BE49-F238E27FC236}">
                  <a16:creationId xmlns:a16="http://schemas.microsoft.com/office/drawing/2014/main" id="{5FF79462-E4F2-48A6-A56D-0D60256382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7">
              <a:extLst>
                <a:ext uri="{FF2B5EF4-FFF2-40B4-BE49-F238E27FC236}">
                  <a16:creationId xmlns:a16="http://schemas.microsoft.com/office/drawing/2014/main" id="{966D2CEE-D08F-46BC-B14C-93765B5B5B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38">
              <a:extLst>
                <a:ext uri="{FF2B5EF4-FFF2-40B4-BE49-F238E27FC236}">
                  <a16:creationId xmlns:a16="http://schemas.microsoft.com/office/drawing/2014/main" id="{599A4AD6-C27F-4336-9E88-8C647A23CF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39">
              <a:extLst>
                <a:ext uri="{FF2B5EF4-FFF2-40B4-BE49-F238E27FC236}">
                  <a16:creationId xmlns:a16="http://schemas.microsoft.com/office/drawing/2014/main" id="{44DF8341-5042-4DC0-BAEF-E3D91FF72E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0">
              <a:extLst>
                <a:ext uri="{FF2B5EF4-FFF2-40B4-BE49-F238E27FC236}">
                  <a16:creationId xmlns:a16="http://schemas.microsoft.com/office/drawing/2014/main" id="{71762CC7-CB05-40DA-A00C-4E2E2480155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1">
              <a:extLst>
                <a:ext uri="{FF2B5EF4-FFF2-40B4-BE49-F238E27FC236}">
                  <a16:creationId xmlns:a16="http://schemas.microsoft.com/office/drawing/2014/main" id="{4F9045FC-8914-48C8-A36C-AAA35E3F4A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2">
              <a:extLst>
                <a:ext uri="{FF2B5EF4-FFF2-40B4-BE49-F238E27FC236}">
                  <a16:creationId xmlns:a16="http://schemas.microsoft.com/office/drawing/2014/main" id="{2B8DF617-2AF1-45FE-A0B8-E36B9580A3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Freeform 43">
              <a:extLst>
                <a:ext uri="{FF2B5EF4-FFF2-40B4-BE49-F238E27FC236}">
                  <a16:creationId xmlns:a16="http://schemas.microsoft.com/office/drawing/2014/main" id="{492D7FF8-46B6-4679-9439-2057238D5B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3" name="Freeform 44">
              <a:extLst>
                <a:ext uri="{FF2B5EF4-FFF2-40B4-BE49-F238E27FC236}">
                  <a16:creationId xmlns:a16="http://schemas.microsoft.com/office/drawing/2014/main" id="{33DDE513-207C-49C7-BF67-7526AAAA15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Rectangle 45">
              <a:extLst>
                <a:ext uri="{FF2B5EF4-FFF2-40B4-BE49-F238E27FC236}">
                  <a16:creationId xmlns:a16="http://schemas.microsoft.com/office/drawing/2014/main" id="{ABEE1802-DF83-4775-831C-512B9B0B15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5" name="Freeform 46">
              <a:extLst>
                <a:ext uri="{FF2B5EF4-FFF2-40B4-BE49-F238E27FC236}">
                  <a16:creationId xmlns:a16="http://schemas.microsoft.com/office/drawing/2014/main" id="{3882C4EF-F620-4972-8FB9-B856D2B636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7">
              <a:extLst>
                <a:ext uri="{FF2B5EF4-FFF2-40B4-BE49-F238E27FC236}">
                  <a16:creationId xmlns:a16="http://schemas.microsoft.com/office/drawing/2014/main" id="{531F85E7-F63E-4D39-8088-8195AD2274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48">
              <a:extLst>
                <a:ext uri="{FF2B5EF4-FFF2-40B4-BE49-F238E27FC236}">
                  <a16:creationId xmlns:a16="http://schemas.microsoft.com/office/drawing/2014/main" id="{9ADD32DD-B096-4677-80F8-B92AA01E6E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49">
              <a:extLst>
                <a:ext uri="{FF2B5EF4-FFF2-40B4-BE49-F238E27FC236}">
                  <a16:creationId xmlns:a16="http://schemas.microsoft.com/office/drawing/2014/main" id="{9F1863D8-139F-4C40-BF00-40B6EA0F30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0">
              <a:extLst>
                <a:ext uri="{FF2B5EF4-FFF2-40B4-BE49-F238E27FC236}">
                  <a16:creationId xmlns:a16="http://schemas.microsoft.com/office/drawing/2014/main" id="{41C88777-539F-4497-8ACD-DB5EB48C8C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1">
              <a:extLst>
                <a:ext uri="{FF2B5EF4-FFF2-40B4-BE49-F238E27FC236}">
                  <a16:creationId xmlns:a16="http://schemas.microsoft.com/office/drawing/2014/main" id="{502CEC28-4F28-4576-B919-7262CCC108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2">
              <a:extLst>
                <a:ext uri="{FF2B5EF4-FFF2-40B4-BE49-F238E27FC236}">
                  <a16:creationId xmlns:a16="http://schemas.microsoft.com/office/drawing/2014/main" id="{C9E5198A-7C53-4D62-BA3D-A3AC6FD0FD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3">
              <a:extLst>
                <a:ext uri="{FF2B5EF4-FFF2-40B4-BE49-F238E27FC236}">
                  <a16:creationId xmlns:a16="http://schemas.microsoft.com/office/drawing/2014/main" id="{E9A854AB-3F74-4287-87DC-AF5A568859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4">
              <a:extLst>
                <a:ext uri="{FF2B5EF4-FFF2-40B4-BE49-F238E27FC236}">
                  <a16:creationId xmlns:a16="http://schemas.microsoft.com/office/drawing/2014/main" id="{4AB0057E-B3A6-4026-9957-95F85AEE5C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5">
              <a:extLst>
                <a:ext uri="{FF2B5EF4-FFF2-40B4-BE49-F238E27FC236}">
                  <a16:creationId xmlns:a16="http://schemas.microsoft.com/office/drawing/2014/main" id="{3EE41E05-F297-4026-836E-28493C070B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6">
              <a:extLst>
                <a:ext uri="{FF2B5EF4-FFF2-40B4-BE49-F238E27FC236}">
                  <a16:creationId xmlns:a16="http://schemas.microsoft.com/office/drawing/2014/main" id="{C92C5E3B-704D-4F3E-8093-7CA684C41D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6" name="Freeform 57">
              <a:extLst>
                <a:ext uri="{FF2B5EF4-FFF2-40B4-BE49-F238E27FC236}">
                  <a16:creationId xmlns:a16="http://schemas.microsoft.com/office/drawing/2014/main" id="{825CD6F0-AF7C-4FF4-97CB-67456D1D72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7" name="Freeform 58">
              <a:extLst>
                <a:ext uri="{FF2B5EF4-FFF2-40B4-BE49-F238E27FC236}">
                  <a16:creationId xmlns:a16="http://schemas.microsoft.com/office/drawing/2014/main" id="{C4DD64A4-C034-4789-BB5E-F569044A38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B683E0DB-6F21-4C3E-8305-9450FD8D69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364912" y="0"/>
            <a:ext cx="674688" cy="6848476"/>
            <a:chOff x="11364912" y="0"/>
            <a:chExt cx="674688" cy="6848476"/>
          </a:xfrm>
          <a:gradFill flip="none" rotWithShape="1">
            <a:gsLst>
              <a:gs pos="0">
                <a:schemeClr val="tx2">
                  <a:alpha val="80000"/>
                </a:schemeClr>
              </a:gs>
              <a:gs pos="100000">
                <a:schemeClr val="bg2">
                  <a:lumMod val="60000"/>
                  <a:lumOff val="40000"/>
                  <a:alpha val="60000"/>
                </a:schemeClr>
              </a:gs>
            </a:gsLst>
            <a:lin ang="5400000" scaled="0"/>
            <a:tileRect/>
          </a:gradFill>
        </p:grpSpPr>
        <p:sp>
          <p:nvSpPr>
            <p:cNvPr id="70" name="Freeform 32">
              <a:extLst>
                <a:ext uri="{FF2B5EF4-FFF2-40B4-BE49-F238E27FC236}">
                  <a16:creationId xmlns:a16="http://schemas.microsoft.com/office/drawing/2014/main" id="{F0A05D6A-7B96-4CC8-AE3F-7FD9D8AD9B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83975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1" name="Freeform 33">
              <a:extLst>
                <a:ext uri="{FF2B5EF4-FFF2-40B4-BE49-F238E27FC236}">
                  <a16:creationId xmlns:a16="http://schemas.microsoft.com/office/drawing/2014/main" id="{5D804E2E-555D-4400-AF17-C855839CB3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64912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2" name="Freeform 34">
              <a:extLst>
                <a:ext uri="{FF2B5EF4-FFF2-40B4-BE49-F238E27FC236}">
                  <a16:creationId xmlns:a16="http://schemas.microsoft.com/office/drawing/2014/main" id="{18D98775-8A76-44FB-B847-48847A7B51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1612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3" name="Freeform 35">
              <a:extLst>
                <a:ext uri="{FF2B5EF4-FFF2-40B4-BE49-F238E27FC236}">
                  <a16:creationId xmlns:a16="http://schemas.microsoft.com/office/drawing/2014/main" id="{81718D4D-D78C-49F6-A8D0-9BFA8281AF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31600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4" name="Freeform 36">
              <a:extLst>
                <a:ext uri="{FF2B5EF4-FFF2-40B4-BE49-F238E27FC236}">
                  <a16:creationId xmlns:a16="http://schemas.microsoft.com/office/drawing/2014/main" id="{77635061-C105-40C2-B344-85AFF34850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72900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5" name="Freeform 37">
              <a:extLst>
                <a:ext uri="{FF2B5EF4-FFF2-40B4-BE49-F238E27FC236}">
                  <a16:creationId xmlns:a16="http://schemas.microsoft.com/office/drawing/2014/main" id="{8AC7657B-8096-43B1-8064-66D26AD3EB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10987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6" name="Freeform 38">
              <a:extLst>
                <a:ext uri="{FF2B5EF4-FFF2-40B4-BE49-F238E27FC236}">
                  <a16:creationId xmlns:a16="http://schemas.microsoft.com/office/drawing/2014/main" id="{53E7728E-84D6-4409-8B01-362F9C83C5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6375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7" name="Freeform 39">
              <a:extLst>
                <a:ext uri="{FF2B5EF4-FFF2-40B4-BE49-F238E27FC236}">
                  <a16:creationId xmlns:a16="http://schemas.microsoft.com/office/drawing/2014/main" id="{4AC472D4-CE53-4329-A993-58B6E842D7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41112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8" name="Freeform 40">
              <a:extLst>
                <a:ext uri="{FF2B5EF4-FFF2-40B4-BE49-F238E27FC236}">
                  <a16:creationId xmlns:a16="http://schemas.microsoft.com/office/drawing/2014/main" id="{26159CF8-0326-4216-A837-F6D30FE966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49100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9" name="Rectangle 41">
              <a:extLst>
                <a:ext uri="{FF2B5EF4-FFF2-40B4-BE49-F238E27FC236}">
                  <a16:creationId xmlns:a16="http://schemas.microsoft.com/office/drawing/2014/main" id="{9BC6B81B-A802-4A4A-A808-00EB769852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39587" y="6596063"/>
              <a:ext cx="23813" cy="2524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</p:grpSp>
    </p:spTree>
    <p:extLst>
      <p:ext uri="{BB962C8B-B14F-4D97-AF65-F5344CB8AC3E}">
        <p14:creationId xmlns:p14="http://schemas.microsoft.com/office/powerpoint/2010/main" val="19451368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86CBF7-69F7-7B44-ABCE-F80D6130EA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153192"/>
            <a:ext cx="10515600" cy="1325563"/>
          </a:xfrm>
        </p:spPr>
        <p:txBody>
          <a:bodyPr/>
          <a:lstStyle/>
          <a:p>
            <a:r>
              <a:rPr lang="en-US" dirty="0"/>
              <a:t>About 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95E837-F77E-AE4D-944C-919B5D780A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000" y="1478755"/>
            <a:ext cx="10515600" cy="4351338"/>
          </a:xfrm>
        </p:spPr>
        <p:txBody>
          <a:bodyPr/>
          <a:lstStyle/>
          <a:p>
            <a:r>
              <a:rPr lang="en-US" dirty="0"/>
              <a:t>Programming professionally for </a:t>
            </a:r>
            <a:r>
              <a:rPr lang="en-US"/>
              <a:t>almost since 2015</a:t>
            </a:r>
            <a:endParaRPr lang="en-US" dirty="0"/>
          </a:p>
          <a:p>
            <a:r>
              <a:rPr lang="en-US" dirty="0"/>
              <a:t>First job was RPG on an IBM Mainframe (AS400/I-Series)</a:t>
            </a:r>
          </a:p>
          <a:p>
            <a:r>
              <a:rPr lang="en-US" dirty="0"/>
              <a:t>Then moved to Java with the Spring ecosystem</a:t>
            </a:r>
          </a:p>
          <a:p>
            <a:pPr lvl="1"/>
            <a:r>
              <a:rPr lang="en-US" dirty="0"/>
              <a:t>Ecommerce</a:t>
            </a:r>
          </a:p>
          <a:p>
            <a:pPr lvl="1"/>
            <a:r>
              <a:rPr lang="en-US" dirty="0"/>
              <a:t>Satellite Imagery</a:t>
            </a:r>
          </a:p>
          <a:p>
            <a:pPr lvl="1"/>
            <a:r>
              <a:rPr lang="en-US" dirty="0"/>
              <a:t>Travel &amp; Hospitality</a:t>
            </a:r>
          </a:p>
          <a:p>
            <a:r>
              <a:rPr lang="en-US"/>
              <a:t>I have a B.B.A. in Accounting (super useful) and a M.S. in Software Engineering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0997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AC8812-3B69-4943-82E4-59C92E4D90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14299"/>
            <a:ext cx="9905998" cy="1176619"/>
          </a:xfrm>
        </p:spPr>
        <p:txBody>
          <a:bodyPr>
            <a:normAutofit/>
          </a:bodyPr>
          <a:lstStyle/>
          <a:p>
            <a:r>
              <a:rPr lang="en-US" dirty="0"/>
              <a:t>Tools – What you’ll need to be successful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AE2DCC-741A-5846-8CC1-7726F1502A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1290918"/>
            <a:ext cx="9905998" cy="4500283"/>
          </a:xfrm>
        </p:spPr>
        <p:txBody>
          <a:bodyPr>
            <a:normAutofit/>
          </a:bodyPr>
          <a:lstStyle/>
          <a:p>
            <a:r>
              <a:rPr lang="en-US" dirty="0"/>
              <a:t>Access to a computer</a:t>
            </a:r>
          </a:p>
          <a:p>
            <a:r>
              <a:rPr lang="en-US" dirty="0"/>
              <a:t>Python 3.x</a:t>
            </a:r>
          </a:p>
          <a:p>
            <a:r>
              <a:rPr lang="en-US" dirty="0"/>
              <a:t>Text editor/IDE</a:t>
            </a:r>
          </a:p>
          <a:p>
            <a:pPr lvl="1"/>
            <a:r>
              <a:rPr lang="en-US" dirty="0"/>
              <a:t>Notepad++</a:t>
            </a:r>
          </a:p>
          <a:p>
            <a:pPr lvl="1"/>
            <a:r>
              <a:rPr lang="en-US" dirty="0">
                <a:solidFill>
                  <a:srgbClr val="FFC000"/>
                </a:solidFill>
              </a:rPr>
              <a:t>Visual </a:t>
            </a:r>
            <a:r>
              <a:rPr lang="en-US">
                <a:solidFill>
                  <a:srgbClr val="FFC000"/>
                </a:solidFill>
              </a:rPr>
              <a:t>Studio Code – Free </a:t>
            </a:r>
            <a:endParaRPr lang="en-US" dirty="0">
              <a:solidFill>
                <a:srgbClr val="FFC000"/>
              </a:solidFill>
            </a:endParaRPr>
          </a:p>
          <a:p>
            <a:pPr lvl="1"/>
            <a:r>
              <a:rPr lang="en-US">
                <a:solidFill>
                  <a:srgbClr val="FFC000"/>
                </a:solidFill>
              </a:rPr>
              <a:t>PyCharm – Free (Community Edition) and Paid</a:t>
            </a:r>
            <a:endParaRPr lang="en-US" dirty="0">
              <a:solidFill>
                <a:srgbClr val="FFC000"/>
              </a:solidFill>
            </a:endParaRPr>
          </a:p>
          <a:p>
            <a:pPr lvl="1"/>
            <a:r>
              <a:rPr lang="en-US" dirty="0"/>
              <a:t>Terminal/Command Line</a:t>
            </a:r>
          </a:p>
          <a:p>
            <a:pPr lvl="1"/>
            <a:r>
              <a:rPr lang="en-US" dirty="0"/>
              <a:t>Online editors (ex: Repl.</a:t>
            </a:r>
            <a:r>
              <a:rPr lang="en-US"/>
              <a:t>it)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64407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9AB04D-874D-0245-A562-02212EE48C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242" y="162579"/>
            <a:ext cx="10515600" cy="1325563"/>
          </a:xfrm>
        </p:spPr>
        <p:txBody>
          <a:bodyPr/>
          <a:lstStyle/>
          <a:p>
            <a:r>
              <a:rPr lang="en-US" dirty="0"/>
              <a:t>Let’s Jump 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13A5A2-1019-0143-BC00-1B8B12D7C1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242" y="1488142"/>
            <a:ext cx="8596668" cy="388077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What is programming?</a:t>
            </a:r>
          </a:p>
          <a:p>
            <a:pPr lvl="1"/>
            <a:r>
              <a:rPr lang="en-US" dirty="0"/>
              <a:t>“The action or process of writing computer programs” – Oxford Languages</a:t>
            </a:r>
          </a:p>
          <a:p>
            <a:pPr lvl="1"/>
            <a:r>
              <a:rPr lang="en-US" dirty="0"/>
              <a:t>“The process of preparing an instructional program for a device” – Merriam-Webster</a:t>
            </a:r>
          </a:p>
          <a:p>
            <a:pPr lvl="1"/>
            <a:r>
              <a:rPr lang="en-US" dirty="0"/>
              <a:t>These definitions are not super clear, so I prefer to define it as “attempting to get a computer to complete a specific task correctly by giving it commands/instructions”</a:t>
            </a:r>
          </a:p>
          <a:p>
            <a:r>
              <a:rPr lang="en-US" dirty="0"/>
              <a:t>How do we provide instructions?</a:t>
            </a:r>
          </a:p>
          <a:p>
            <a:pPr lvl="1"/>
            <a:r>
              <a:rPr lang="en-US" dirty="0"/>
              <a:t>Programming languages!</a:t>
            </a:r>
          </a:p>
        </p:txBody>
      </p:sp>
    </p:spTree>
    <p:extLst>
      <p:ext uri="{BB962C8B-B14F-4D97-AF65-F5344CB8AC3E}">
        <p14:creationId xmlns:p14="http://schemas.microsoft.com/office/powerpoint/2010/main" val="10566046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9AB04D-874D-0245-A562-02212EE48C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499" y="163050"/>
            <a:ext cx="10515600" cy="1325563"/>
          </a:xfrm>
        </p:spPr>
        <p:txBody>
          <a:bodyPr/>
          <a:lstStyle/>
          <a:p>
            <a:r>
              <a:rPr lang="en-US" dirty="0"/>
              <a:t>Programming Languages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13A5A2-1019-0143-BC00-1B8B12D7C1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498" y="1488613"/>
            <a:ext cx="10334823" cy="4979094"/>
          </a:xfrm>
        </p:spPr>
        <p:txBody>
          <a:bodyPr>
            <a:normAutofit/>
          </a:bodyPr>
          <a:lstStyle/>
          <a:p>
            <a:r>
              <a:rPr lang="en-US" dirty="0"/>
              <a:t>What is a programming language?</a:t>
            </a:r>
          </a:p>
          <a:p>
            <a:pPr lvl="1"/>
            <a:r>
              <a:rPr lang="en-US"/>
              <a:t>They’re a way of providing a computer with instructions</a:t>
            </a:r>
          </a:p>
          <a:p>
            <a:pPr lvl="1"/>
            <a:r>
              <a:rPr lang="en-US"/>
              <a:t>They </a:t>
            </a:r>
            <a:r>
              <a:rPr lang="en-US" dirty="0"/>
              <a:t>can serve as a middle-man to the computer’s language</a:t>
            </a:r>
          </a:p>
          <a:p>
            <a:pPr lvl="2"/>
            <a:r>
              <a:rPr lang="en-US" dirty="0"/>
              <a:t>Computers understand machine code. Without programming languages you’d have to program using 0s and 1s</a:t>
            </a:r>
          </a:p>
          <a:p>
            <a:pPr lvl="2"/>
            <a:r>
              <a:rPr lang="en-US" dirty="0"/>
              <a:t>Programming languages make it easier by allowing us to write code using more familiar syntax</a:t>
            </a:r>
          </a:p>
          <a:p>
            <a:pPr lvl="2"/>
            <a:r>
              <a:rPr lang="en-US" dirty="0"/>
              <a:t>Not all programming languages are the same, some are “higher level” and others are “low level”</a:t>
            </a:r>
          </a:p>
          <a:p>
            <a:pPr lvl="3"/>
            <a:r>
              <a:rPr lang="en-US" dirty="0"/>
              <a:t>High Level: Python, Java, C#</a:t>
            </a:r>
          </a:p>
          <a:p>
            <a:pPr lvl="3"/>
            <a:r>
              <a:rPr lang="en-US" dirty="0"/>
              <a:t>Low Level: Assembly, Machine</a:t>
            </a:r>
          </a:p>
          <a:p>
            <a:pPr lvl="3"/>
            <a:r>
              <a:rPr lang="en-US" dirty="0"/>
              <a:t>Middle: C, C++</a:t>
            </a:r>
          </a:p>
        </p:txBody>
      </p:sp>
    </p:spTree>
    <p:extLst>
      <p:ext uri="{BB962C8B-B14F-4D97-AF65-F5344CB8AC3E}">
        <p14:creationId xmlns:p14="http://schemas.microsoft.com/office/powerpoint/2010/main" val="28404964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9AB04D-874D-0245-A562-02212EE48C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146102"/>
            <a:ext cx="10515600" cy="1325563"/>
          </a:xfrm>
        </p:spPr>
        <p:txBody>
          <a:bodyPr/>
          <a:lstStyle/>
          <a:p>
            <a:r>
              <a:rPr lang="en-US" dirty="0"/>
              <a:t>Programming Languages – Examples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75740CB-638A-0E4D-9156-A0E16DE3A4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5222" y="3223668"/>
            <a:ext cx="6868052" cy="322814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E3382D1-583F-4701-A7DC-A871764F6E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9873" y="1746512"/>
            <a:ext cx="5238750" cy="876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27909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E0BBFD-B910-C14E-8C71-BD1A58C36C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276224"/>
            <a:ext cx="10515600" cy="1325563"/>
          </a:xfrm>
        </p:spPr>
        <p:txBody>
          <a:bodyPr/>
          <a:lstStyle/>
          <a:p>
            <a:r>
              <a:rPr lang="en-US" dirty="0"/>
              <a:t>My First Programming Job</a:t>
            </a:r>
          </a:p>
        </p:txBody>
      </p:sp>
      <p:pic>
        <p:nvPicPr>
          <p:cNvPr id="1026" name="Picture 2" descr="RPG and IBM i - DEV">
            <a:extLst>
              <a:ext uri="{FF2B5EF4-FFF2-40B4-BE49-F238E27FC236}">
                <a16:creationId xmlns:a16="http://schemas.microsoft.com/office/drawing/2014/main" id="{F0EBA7AF-E76C-C34D-BB88-070B29A72258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465351" y="1601787"/>
            <a:ext cx="7261298" cy="49921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660378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9AB04D-874D-0245-A562-02212EE48C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499" y="163050"/>
            <a:ext cx="10515600" cy="1325563"/>
          </a:xfrm>
        </p:spPr>
        <p:txBody>
          <a:bodyPr/>
          <a:lstStyle/>
          <a:p>
            <a:r>
              <a:rPr lang="en-US" dirty="0"/>
              <a:t>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13A5A2-1019-0143-BC00-1B8B12D7C1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499" y="1488613"/>
            <a:ext cx="8596668" cy="388077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For this class, we will be using the Python programming language (v3.x).</a:t>
            </a:r>
          </a:p>
          <a:p>
            <a:r>
              <a:rPr lang="en-US" dirty="0"/>
              <a:t>v2.x is for legacy support, try to avoid programming in v2.x unless you </a:t>
            </a:r>
            <a:r>
              <a:rPr lang="en-US"/>
              <a:t>have to</a:t>
            </a:r>
          </a:p>
          <a:p>
            <a:pPr lvl="1"/>
            <a:r>
              <a:rPr lang="en-US"/>
              <a:t>If you’re on a Windows machine, you likely don’t have v2 or v3 installed</a:t>
            </a:r>
          </a:p>
          <a:p>
            <a:pPr lvl="1"/>
            <a:r>
              <a:rPr lang="en-US"/>
              <a:t>If you’re on a Mac or Linux, you may have v2 installed </a:t>
            </a:r>
            <a:endParaRPr lang="en-US" dirty="0"/>
          </a:p>
          <a:p>
            <a:r>
              <a:rPr lang="en-US" dirty="0"/>
              <a:t>Python is a popular beginner language</a:t>
            </a:r>
          </a:p>
          <a:p>
            <a:pPr lvl="1"/>
            <a:r>
              <a:rPr lang="en-US" dirty="0"/>
              <a:t>Easier syntax for beginners to learn</a:t>
            </a:r>
          </a:p>
          <a:p>
            <a:pPr lvl="1"/>
            <a:r>
              <a:rPr lang="en-US" dirty="0"/>
              <a:t>As of 2014, it was the most popular intro language at the top </a:t>
            </a:r>
            <a:r>
              <a:rPr lang="en-US"/>
              <a:t>computer universities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12595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9AB04D-874D-0245-A562-02212EE48C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499" y="163050"/>
            <a:ext cx="10515600" cy="1325563"/>
          </a:xfrm>
        </p:spPr>
        <p:txBody>
          <a:bodyPr/>
          <a:lstStyle/>
          <a:p>
            <a:r>
              <a:rPr lang="en-US" dirty="0"/>
              <a:t>Syntax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13A5A2-1019-0143-BC00-1B8B12D7C1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499" y="1488613"/>
            <a:ext cx="8596668" cy="3880773"/>
          </a:xfrm>
        </p:spPr>
        <p:txBody>
          <a:bodyPr>
            <a:normAutofit/>
          </a:bodyPr>
          <a:lstStyle/>
          <a:p>
            <a:r>
              <a:rPr lang="en-US" dirty="0"/>
              <a:t>All programming languages have a specific syntax</a:t>
            </a:r>
          </a:p>
          <a:p>
            <a:r>
              <a:rPr lang="en-US" dirty="0"/>
              <a:t>These are rules you must follow in order for your program to run properly</a:t>
            </a:r>
          </a:p>
          <a:p>
            <a:pPr lvl="1"/>
            <a:r>
              <a:rPr lang="en-US" dirty="0"/>
              <a:t>Ex: Declaring variables or functions</a:t>
            </a:r>
          </a:p>
          <a:p>
            <a:r>
              <a:rPr lang="en-US" dirty="0"/>
              <a:t>Breaking the rules will result in errors</a:t>
            </a:r>
          </a:p>
          <a:p>
            <a:r>
              <a:rPr lang="en-US" dirty="0"/>
              <a:t>“Let’s eat, Grandma!” vs ”Let’s eat Grandma!”</a:t>
            </a:r>
          </a:p>
        </p:txBody>
      </p:sp>
    </p:spTree>
    <p:extLst>
      <p:ext uri="{BB962C8B-B14F-4D97-AF65-F5344CB8AC3E}">
        <p14:creationId xmlns:p14="http://schemas.microsoft.com/office/powerpoint/2010/main" val="12443935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9AB04D-874D-0245-A562-02212EE48C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499" y="163050"/>
            <a:ext cx="10515600" cy="1325563"/>
          </a:xfrm>
        </p:spPr>
        <p:txBody>
          <a:bodyPr/>
          <a:lstStyle/>
          <a:p>
            <a:r>
              <a:rPr lang="en-US" dirty="0"/>
              <a:t>Syntax Examples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0D3BEC7-DAA2-E84C-B62A-CD4673284A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488611"/>
            <a:ext cx="3684104" cy="526576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639EDFB-06F8-4243-9647-C2371D7152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9812" y="1488611"/>
            <a:ext cx="3806188" cy="5265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04697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9AB04D-874D-0245-A562-02212EE48C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499" y="163050"/>
            <a:ext cx="10515600" cy="1325563"/>
          </a:xfrm>
        </p:spPr>
        <p:txBody>
          <a:bodyPr/>
          <a:lstStyle/>
          <a:p>
            <a:r>
              <a:rPr lang="en-US" dirty="0"/>
              <a:t>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13A5A2-1019-0143-BC00-1B8B12D7C1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499" y="1488613"/>
            <a:ext cx="10305086" cy="4867582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What is a variable?</a:t>
            </a:r>
          </a:p>
          <a:p>
            <a:pPr lvl="1"/>
            <a:r>
              <a:rPr lang="en-US" dirty="0"/>
              <a:t>Something that can store information, which can be referenced and manipulated</a:t>
            </a:r>
          </a:p>
          <a:p>
            <a:pPr lvl="1"/>
            <a:r>
              <a:rPr lang="en-US" dirty="0"/>
              <a:t>Think of a box with the label “score” with the number 2 in it. The box is the variable, and number 2 is its value</a:t>
            </a:r>
          </a:p>
          <a:p>
            <a:pPr lvl="2"/>
            <a:r>
              <a:rPr lang="en-US">
                <a:highlight>
                  <a:srgbClr val="0000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score = 2</a:t>
            </a:r>
            <a:endParaRPr lang="en-US" dirty="0">
              <a:highlight>
                <a:srgbClr val="000000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Each variable has a type, name, and piece of information stored inside of it</a:t>
            </a:r>
          </a:p>
          <a:p>
            <a:pPr lvl="1"/>
            <a:r>
              <a:rPr lang="en-US" dirty="0"/>
              <a:t>In Python (and many languages) variables can be of two types, primitive and non-primitive (complex)</a:t>
            </a:r>
          </a:p>
          <a:p>
            <a:r>
              <a:rPr lang="en-US" dirty="0"/>
              <a:t>Why are they important?</a:t>
            </a:r>
          </a:p>
          <a:p>
            <a:pPr lvl="1"/>
            <a:r>
              <a:rPr lang="en-US" dirty="0"/>
              <a:t>Helpful for getting input from the user</a:t>
            </a:r>
          </a:p>
          <a:p>
            <a:pPr lvl="1"/>
            <a:r>
              <a:rPr lang="en-US" dirty="0"/>
              <a:t>Allows a program to be more flexible and reusable</a:t>
            </a:r>
          </a:p>
          <a:p>
            <a:pPr lvl="1"/>
            <a:r>
              <a:rPr lang="en-US" dirty="0"/>
              <a:t>Manipulating variables is necessary for ton of things in programming</a:t>
            </a:r>
          </a:p>
          <a:p>
            <a:pPr lvl="2"/>
            <a:r>
              <a:rPr lang="en-US" dirty="0"/>
              <a:t>Ex: adding points to a score, totaling an online web order total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21847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9AB04D-874D-0245-A562-02212EE48C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499" y="163050"/>
            <a:ext cx="10515600" cy="1325563"/>
          </a:xfrm>
        </p:spPr>
        <p:txBody>
          <a:bodyPr/>
          <a:lstStyle/>
          <a:p>
            <a:r>
              <a:rPr lang="en-US" dirty="0"/>
              <a:t>Python Primitive vs Non-Primitive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13A5A2-1019-0143-BC00-1B8B12D7C1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499" y="1488613"/>
            <a:ext cx="10401730" cy="5083172"/>
          </a:xfrm>
        </p:spPr>
        <p:txBody>
          <a:bodyPr>
            <a:normAutofit/>
          </a:bodyPr>
          <a:lstStyle/>
          <a:p>
            <a:r>
              <a:rPr lang="en-US" dirty="0"/>
              <a:t>Primitive/Simple</a:t>
            </a:r>
          </a:p>
          <a:p>
            <a:pPr lvl="1"/>
            <a:r>
              <a:rPr lang="en-US" dirty="0"/>
              <a:t>Integers – represent </a:t>
            </a:r>
            <a:r>
              <a:rPr lang="en-US"/>
              <a:t>whole numbers</a:t>
            </a:r>
            <a:endParaRPr lang="en-US" dirty="0"/>
          </a:p>
          <a:p>
            <a:pPr lvl="1"/>
            <a:r>
              <a:rPr lang="en-US" dirty="0"/>
              <a:t>Float – represents numbers </a:t>
            </a:r>
            <a:r>
              <a:rPr lang="en-US"/>
              <a:t>with decimals</a:t>
            </a:r>
            <a:endParaRPr lang="en-US" dirty="0"/>
          </a:p>
          <a:p>
            <a:pPr lvl="1"/>
            <a:r>
              <a:rPr lang="en-US" dirty="0"/>
              <a:t>Strings – for storing characters or collection of characters (ex: </a:t>
            </a:r>
            <a:r>
              <a:rPr lang="en-US"/>
              <a:t>words)</a:t>
            </a:r>
            <a:endParaRPr lang="en-US" dirty="0"/>
          </a:p>
          <a:p>
            <a:pPr lvl="1"/>
            <a:r>
              <a:rPr lang="en-US" dirty="0"/>
              <a:t>Boolean – can store only True or False</a:t>
            </a:r>
          </a:p>
          <a:p>
            <a:r>
              <a:rPr lang="en-US" dirty="0"/>
              <a:t>Non-Primitive/Complex</a:t>
            </a:r>
          </a:p>
          <a:p>
            <a:pPr lvl="1"/>
            <a:r>
              <a:rPr lang="en-US" dirty="0"/>
              <a:t>Lists – mutable (changeable) sequences, used to store collections of data</a:t>
            </a:r>
          </a:p>
          <a:p>
            <a:pPr lvl="1"/>
            <a:r>
              <a:rPr lang="en-US" dirty="0"/>
              <a:t>Tuples – immutable (non-changeable) sequences, used to store collections of data</a:t>
            </a:r>
          </a:p>
          <a:p>
            <a:pPr lvl="1"/>
            <a:r>
              <a:rPr lang="en-US" dirty="0"/>
              <a:t>Range – immutable sequence of numbers, commonly used for looping</a:t>
            </a:r>
          </a:p>
          <a:p>
            <a:pPr lvl="1"/>
            <a:r>
              <a:rPr lang="en-US" dirty="0"/>
              <a:t>Dictionary – mutable map of </a:t>
            </a:r>
            <a:r>
              <a:rPr lang="en-US" dirty="0" err="1"/>
              <a:t>hashable</a:t>
            </a:r>
            <a:r>
              <a:rPr lang="en-US" dirty="0"/>
              <a:t> values to arbitrary objects (key, value pair)</a:t>
            </a:r>
          </a:p>
          <a:p>
            <a:pPr lvl="1"/>
            <a:r>
              <a:rPr lang="en-US" dirty="0"/>
              <a:t>Sets – unordered collection of distinct </a:t>
            </a:r>
            <a:r>
              <a:rPr lang="en-US" dirty="0" err="1"/>
              <a:t>hashable</a:t>
            </a:r>
            <a:r>
              <a:rPr lang="en-US" dirty="0"/>
              <a:t> objects</a:t>
            </a:r>
          </a:p>
        </p:txBody>
      </p:sp>
    </p:spTree>
    <p:extLst>
      <p:ext uri="{BB962C8B-B14F-4D97-AF65-F5344CB8AC3E}">
        <p14:creationId xmlns:p14="http://schemas.microsoft.com/office/powerpoint/2010/main" val="6008223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9AB04D-874D-0245-A562-02212EE48C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499" y="163050"/>
            <a:ext cx="10515600" cy="1325563"/>
          </a:xfrm>
        </p:spPr>
        <p:txBody>
          <a:bodyPr/>
          <a:lstStyle/>
          <a:p>
            <a:r>
              <a:rPr lang="en-US" dirty="0"/>
              <a:t>Some Syntax </a:t>
            </a:r>
            <a:r>
              <a:rPr lang="en-US"/>
              <a:t>Around Variables - Python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13A5A2-1019-0143-BC00-1B8B12D7C1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499" y="1488613"/>
            <a:ext cx="10201008" cy="4830411"/>
          </a:xfrm>
        </p:spPr>
        <p:txBody>
          <a:bodyPr>
            <a:normAutofit fontScale="92500"/>
          </a:bodyPr>
          <a:lstStyle/>
          <a:p>
            <a:r>
              <a:rPr lang="en-US" dirty="0"/>
              <a:t>Names can contain only letters, numbers, and underscores.</a:t>
            </a:r>
          </a:p>
          <a:p>
            <a:pPr lvl="1"/>
            <a:r>
              <a:rPr lang="en-US" dirty="0"/>
              <a:t>They can start with a letter or underscore, but not a number</a:t>
            </a:r>
          </a:p>
          <a:p>
            <a:r>
              <a:rPr lang="en-US" dirty="0"/>
              <a:t>Spaces are not allowed</a:t>
            </a:r>
          </a:p>
          <a:p>
            <a:pPr lvl="1"/>
            <a:r>
              <a:rPr lang="en-US" dirty="0"/>
              <a:t>Ex “user_name” vs “user name”</a:t>
            </a:r>
          </a:p>
          <a:p>
            <a:r>
              <a:rPr lang="en-US" dirty="0"/>
              <a:t>Avoid using Python keywords and function names as </a:t>
            </a:r>
            <a:r>
              <a:rPr lang="en-US"/>
              <a:t>variable names</a:t>
            </a:r>
          </a:p>
          <a:p>
            <a:pPr lvl="1"/>
            <a:r>
              <a:rPr lang="en-US">
                <a:hlinkClick r:id="rId2"/>
              </a:rPr>
              <a:t>Keywords</a:t>
            </a:r>
            <a:r>
              <a:rPr lang="en-US"/>
              <a:t>, </a:t>
            </a:r>
            <a:r>
              <a:rPr lang="en-US">
                <a:hlinkClick r:id="rId3"/>
              </a:rPr>
              <a:t>Built-In Functions</a:t>
            </a:r>
            <a:endParaRPr lang="en-US" dirty="0"/>
          </a:p>
          <a:p>
            <a:r>
              <a:rPr lang="en-US" dirty="0"/>
              <a:t>Not syntax, but try to keep your variable names short but descriptive</a:t>
            </a:r>
          </a:p>
          <a:p>
            <a:pPr lvl="1"/>
            <a:r>
              <a:rPr lang="en-US" dirty="0"/>
              <a:t>Ex “</a:t>
            </a:r>
            <a:r>
              <a:rPr lang="en-US" dirty="0" err="1"/>
              <a:t>total_score</a:t>
            </a:r>
            <a:r>
              <a:rPr lang="en-US" dirty="0"/>
              <a:t>” vs “</a:t>
            </a:r>
            <a:r>
              <a:rPr lang="en-US" dirty="0" err="1"/>
              <a:t>ts</a:t>
            </a:r>
            <a:r>
              <a:rPr lang="en-US" dirty="0"/>
              <a:t>” vs “</a:t>
            </a:r>
            <a:r>
              <a:rPr lang="en-US" dirty="0" err="1"/>
              <a:t>the_players_cummulative_score_so_far</a:t>
            </a:r>
            <a:r>
              <a:rPr lang="en-US" dirty="0"/>
              <a:t>”</a:t>
            </a:r>
          </a:p>
          <a:p>
            <a:r>
              <a:rPr lang="en-US" dirty="0"/>
              <a:t>Not syntax, but Python programmers generally prefer the underscore vs camelCase</a:t>
            </a:r>
          </a:p>
          <a:p>
            <a:pPr lvl="1"/>
            <a:r>
              <a:rPr lang="en-US" dirty="0"/>
              <a:t>Ex “</a:t>
            </a:r>
            <a:r>
              <a:rPr lang="en-US" dirty="0" err="1"/>
              <a:t>user_name</a:t>
            </a:r>
            <a:r>
              <a:rPr lang="en-US" dirty="0"/>
              <a:t>” vs “</a:t>
            </a:r>
            <a:r>
              <a:rPr lang="en-US" dirty="0" err="1"/>
              <a:t>userName</a:t>
            </a:r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1275513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9AB04D-874D-0245-A562-02212EE48C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499" y="163050"/>
            <a:ext cx="10515600" cy="1325563"/>
          </a:xfrm>
        </p:spPr>
        <p:txBody>
          <a:bodyPr/>
          <a:lstStyle/>
          <a:p>
            <a:r>
              <a:rPr lang="en-US" dirty="0"/>
              <a:t>Check Understanding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13A5A2-1019-0143-BC00-1B8B12D7C1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499" y="1488613"/>
            <a:ext cx="8596668" cy="3880773"/>
          </a:xfrm>
        </p:spPr>
        <p:txBody>
          <a:bodyPr>
            <a:normAutofit/>
          </a:bodyPr>
          <a:lstStyle/>
          <a:p>
            <a:r>
              <a:rPr lang="en-US" dirty="0"/>
              <a:t>Which of the following pieces of code have an error?</a:t>
            </a:r>
          </a:p>
          <a:p>
            <a:r>
              <a:rPr lang="en-US" dirty="0">
                <a:highlight>
                  <a:srgbClr val="0000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Score = 12</a:t>
            </a:r>
          </a:p>
          <a:p>
            <a:r>
              <a:rPr lang="en-US" dirty="0" err="1">
                <a:highlight>
                  <a:srgbClr val="0000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my_score</a:t>
            </a:r>
            <a:r>
              <a:rPr lang="en-US" dirty="0">
                <a:highlight>
                  <a:srgbClr val="0000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= 25.0</a:t>
            </a:r>
          </a:p>
          <a:p>
            <a:r>
              <a:rPr lang="en-US" dirty="0">
                <a:highlight>
                  <a:srgbClr val="0000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player 2 = ‘Will’</a:t>
            </a:r>
          </a:p>
          <a:p>
            <a:r>
              <a:rPr lang="en-US" dirty="0">
                <a:highlight>
                  <a:srgbClr val="0000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_total = 124.99</a:t>
            </a:r>
          </a:p>
          <a:p>
            <a:r>
              <a:rPr lang="en-US" dirty="0">
                <a:highlight>
                  <a:srgbClr val="0000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1_player = ‘Sam’</a:t>
            </a:r>
          </a:p>
        </p:txBody>
      </p:sp>
    </p:spTree>
    <p:extLst>
      <p:ext uri="{BB962C8B-B14F-4D97-AF65-F5344CB8AC3E}">
        <p14:creationId xmlns:p14="http://schemas.microsoft.com/office/powerpoint/2010/main" val="34901589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9AB04D-874D-0245-A562-02212EE48C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499" y="163050"/>
            <a:ext cx="10515600" cy="1325563"/>
          </a:xfrm>
        </p:spPr>
        <p:txBody>
          <a:bodyPr/>
          <a:lstStyle/>
          <a:p>
            <a:r>
              <a:rPr lang="en-US" dirty="0"/>
              <a:t>Check Understanding - Answers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13A5A2-1019-0143-BC00-1B8B12D7C1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499" y="1488613"/>
            <a:ext cx="8596668" cy="3880773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Which of the following pieces of code have an error?</a:t>
            </a:r>
          </a:p>
          <a:p>
            <a:r>
              <a:rPr lang="en-US" dirty="0">
                <a:highlight>
                  <a:srgbClr val="0000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Score = 12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OK – but generally bad practice to use capital letter</a:t>
            </a:r>
          </a:p>
          <a:p>
            <a:r>
              <a:rPr lang="en-US" dirty="0" err="1">
                <a:highlight>
                  <a:srgbClr val="0000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my_score</a:t>
            </a:r>
            <a:r>
              <a:rPr lang="en-US" dirty="0">
                <a:highlight>
                  <a:srgbClr val="0000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= 25.0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OK</a:t>
            </a:r>
          </a:p>
          <a:p>
            <a:r>
              <a:rPr lang="en-US" dirty="0">
                <a:highlight>
                  <a:srgbClr val="0000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player 2 = ‘Will’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NOT OK – cannot have spaces in variable name</a:t>
            </a:r>
          </a:p>
          <a:p>
            <a:r>
              <a:rPr lang="en-US" dirty="0">
                <a:highlight>
                  <a:srgbClr val="0000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_total = 124.99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OK</a:t>
            </a:r>
          </a:p>
          <a:p>
            <a:r>
              <a:rPr lang="en-US" dirty="0">
                <a:highlight>
                  <a:srgbClr val="0000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1_player = ‘Sam’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NOT OK – cannot start with number</a:t>
            </a:r>
          </a:p>
        </p:txBody>
      </p:sp>
    </p:spTree>
    <p:extLst>
      <p:ext uri="{BB962C8B-B14F-4D97-AF65-F5344CB8AC3E}">
        <p14:creationId xmlns:p14="http://schemas.microsoft.com/office/powerpoint/2010/main" val="264929582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9AB04D-874D-0245-A562-02212EE48C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499" y="163050"/>
            <a:ext cx="10515600" cy="1325563"/>
          </a:xfrm>
        </p:spPr>
        <p:txBody>
          <a:bodyPr/>
          <a:lstStyle/>
          <a:p>
            <a:r>
              <a:rPr lang="en-US" dirty="0"/>
              <a:t>Integers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13A5A2-1019-0143-BC00-1B8B12D7C1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499" y="1488613"/>
            <a:ext cx="8596668" cy="3880773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You </a:t>
            </a:r>
            <a:r>
              <a:rPr lang="en-US"/>
              <a:t>can do basic </a:t>
            </a:r>
            <a:r>
              <a:rPr lang="en-US" dirty="0"/>
              <a:t>arithmetic like add (+), subtract (-), multiply (*), and divide (/) </a:t>
            </a:r>
          </a:p>
          <a:p>
            <a:r>
              <a:rPr lang="en-US" dirty="0"/>
              <a:t>Python uses two multiplication symbols (**) to represent exponents</a:t>
            </a:r>
          </a:p>
          <a:p>
            <a:pPr lvl="1"/>
            <a:r>
              <a:rPr lang="en-US" dirty="0"/>
              <a:t>3</a:t>
            </a:r>
            <a:r>
              <a:rPr lang="en-US"/>
              <a:t>**2 outputs 9</a:t>
            </a:r>
            <a:endParaRPr lang="en-US" dirty="0"/>
          </a:p>
          <a:p>
            <a:r>
              <a:rPr lang="en-US" dirty="0"/>
              <a:t>Python follows order of operations</a:t>
            </a:r>
          </a:p>
          <a:p>
            <a:pPr lvl="1"/>
            <a:r>
              <a:rPr lang="en-US" dirty="0"/>
              <a:t>2 </a:t>
            </a:r>
            <a:r>
              <a:rPr lang="en-US"/>
              <a:t>+ 3*4 outputs 14</a:t>
            </a:r>
            <a:endParaRPr lang="en-US" dirty="0"/>
          </a:p>
          <a:p>
            <a:pPr lvl="1"/>
            <a:r>
              <a:rPr lang="en-US" dirty="0"/>
              <a:t>(2+3)*</a:t>
            </a:r>
            <a:r>
              <a:rPr lang="en-US"/>
              <a:t>4 outputs </a:t>
            </a:r>
            <a:r>
              <a:rPr lang="en-US" dirty="0"/>
              <a:t>20 </a:t>
            </a:r>
          </a:p>
          <a:p>
            <a:r>
              <a:rPr lang="en-US" dirty="0"/>
              <a:t>Quirk – When you divide two integers, Python will give the answer as a float</a:t>
            </a:r>
          </a:p>
          <a:p>
            <a:pPr lvl="1"/>
            <a:r>
              <a:rPr lang="en-US"/>
              <a:t>4/2 outputs 2.0</a:t>
            </a:r>
            <a:endParaRPr lang="en-US" dirty="0"/>
          </a:p>
          <a:p>
            <a:r>
              <a:rPr lang="en-US" dirty="0"/>
              <a:t>Large numbers can be written using underscores for readability</a:t>
            </a:r>
          </a:p>
          <a:p>
            <a:pPr lvl="1"/>
            <a:r>
              <a:rPr lang="en-US" dirty="0"/>
              <a:t>1_000_000 vs 1000000</a:t>
            </a:r>
          </a:p>
        </p:txBody>
      </p:sp>
    </p:spTree>
    <p:extLst>
      <p:ext uri="{BB962C8B-B14F-4D97-AF65-F5344CB8AC3E}">
        <p14:creationId xmlns:p14="http://schemas.microsoft.com/office/powerpoint/2010/main" val="14117780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9AB04D-874D-0245-A562-02212EE48C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499" y="163050"/>
            <a:ext cx="10515600" cy="1325563"/>
          </a:xfrm>
        </p:spPr>
        <p:txBody>
          <a:bodyPr/>
          <a:lstStyle/>
          <a:p>
            <a:r>
              <a:rPr lang="en-US" dirty="0"/>
              <a:t>Floats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13A5A2-1019-0143-BC00-1B8B12D7C1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499" y="1488613"/>
            <a:ext cx="8596668" cy="3880773"/>
          </a:xfrm>
        </p:spPr>
        <p:txBody>
          <a:bodyPr>
            <a:normAutofit/>
          </a:bodyPr>
          <a:lstStyle/>
          <a:p>
            <a:r>
              <a:rPr lang="en-US" dirty="0"/>
              <a:t>Any number with a decimal is called a float</a:t>
            </a:r>
          </a:p>
          <a:p>
            <a:r>
              <a:rPr lang="en-US" dirty="0"/>
              <a:t>Similar operations to integers (+, -, *, /, **, </a:t>
            </a:r>
            <a:r>
              <a:rPr lang="en-US" dirty="0" err="1"/>
              <a:t>etc</a:t>
            </a:r>
            <a:r>
              <a:rPr lang="en-US" dirty="0"/>
              <a:t>)</a:t>
            </a:r>
          </a:p>
          <a:p>
            <a:r>
              <a:rPr lang="en-US" dirty="0"/>
              <a:t>Quirk – sometimes floats get arbitrary numbers, we will ignore this for now</a:t>
            </a:r>
          </a:p>
          <a:p>
            <a:pPr lvl="1"/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748B8C5-38AF-40B1-9102-22D6BC5806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1206" y="3645693"/>
            <a:ext cx="2634179" cy="611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589498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671D182-453A-E844-A68B-D9F18CE236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8708" y="345220"/>
            <a:ext cx="6454584" cy="5302544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BFF10EE2-B46F-CF47-9677-C86A7BA7F670}"/>
              </a:ext>
            </a:extLst>
          </p:cNvPr>
          <p:cNvSpPr/>
          <p:nvPr/>
        </p:nvSpPr>
        <p:spPr>
          <a:xfrm>
            <a:off x="4957034" y="5728446"/>
            <a:ext cx="227793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hlinkClick r:id="rId3"/>
              </a:rPr>
              <a:t>Python Standard Types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886666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9AB04D-874D-0245-A562-02212EE48C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499" y="163050"/>
            <a:ext cx="10515600" cy="1325563"/>
          </a:xfrm>
        </p:spPr>
        <p:txBody>
          <a:bodyPr/>
          <a:lstStyle/>
          <a:p>
            <a:r>
              <a:rPr lang="en-US" dirty="0"/>
              <a:t>Strings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13A5A2-1019-0143-BC00-1B8B12D7C1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498" y="1488613"/>
            <a:ext cx="10245613" cy="5105068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Python allows strings to be surrounded by single or double quotes</a:t>
            </a:r>
          </a:p>
          <a:p>
            <a:pPr lvl="1"/>
            <a:r>
              <a:rPr lang="en-US" dirty="0"/>
              <a:t>Ex: ‘This is a string’ and “This is also a string”</a:t>
            </a:r>
          </a:p>
          <a:p>
            <a:r>
              <a:rPr lang="en-US" dirty="0"/>
              <a:t>This flexibility can be helpful when you need to have apostrophes or quotes in your string</a:t>
            </a:r>
          </a:p>
          <a:p>
            <a:pPr lvl="1"/>
            <a:r>
              <a:rPr lang="en-US" dirty="0"/>
              <a:t>Ex: ‘He said “I don’t like green eggs and ham!” when I asked him’</a:t>
            </a:r>
          </a:p>
          <a:p>
            <a:pPr lvl="1"/>
            <a:r>
              <a:rPr lang="en-US" dirty="0"/>
              <a:t>Ex: “The </a:t>
            </a:r>
            <a:r>
              <a:rPr lang="en-US"/>
              <a:t>name ‘Python</a:t>
            </a:r>
            <a:r>
              <a:rPr lang="en-US" dirty="0"/>
              <a:t>’ is actually from Monty Python”</a:t>
            </a:r>
          </a:p>
          <a:p>
            <a:r>
              <a:rPr lang="en-US" dirty="0"/>
              <a:t>Strings have built in functions that are very useful</a:t>
            </a:r>
          </a:p>
          <a:p>
            <a:pPr lvl="1"/>
            <a:r>
              <a:rPr lang="en-US" dirty="0"/>
              <a:t>Examples:</a:t>
            </a:r>
          </a:p>
          <a:p>
            <a:pPr lvl="2"/>
            <a:r>
              <a:rPr lang="en-US" dirty="0"/>
              <a:t>upper() – All uppercase letters</a:t>
            </a:r>
          </a:p>
          <a:p>
            <a:pPr lvl="2"/>
            <a:r>
              <a:rPr lang="en-US" dirty="0"/>
              <a:t>lower() – All lowercase letters</a:t>
            </a:r>
          </a:p>
          <a:p>
            <a:pPr lvl="2"/>
            <a:r>
              <a:rPr lang="en-US" dirty="0"/>
              <a:t>title() – The first letter of each word is capitalized </a:t>
            </a:r>
          </a:p>
          <a:p>
            <a:pPr lvl="1"/>
            <a:r>
              <a:rPr lang="en-US" dirty="0"/>
              <a:t>To use these, you use this notation: </a:t>
            </a:r>
            <a:r>
              <a:rPr lang="en-US" dirty="0" err="1"/>
              <a:t>variable_name.</a:t>
            </a:r>
            <a:r>
              <a:rPr lang="en-US" err="1"/>
              <a:t>function</a:t>
            </a:r>
            <a:r>
              <a:rPr lang="en-US"/>
              <a:t>()</a:t>
            </a:r>
          </a:p>
          <a:p>
            <a:pPr lvl="1"/>
            <a:r>
              <a:rPr lang="en-US"/>
              <a:t>These specific functions do not take parameters – we’ll explore that in a later lecture, but for now that just means the parenthesis are empty ()</a:t>
            </a:r>
            <a:endParaRPr lang="en-US" dirty="0"/>
          </a:p>
          <a:p>
            <a:pPr marL="457200" lvl="2" indent="0">
              <a:spcBef>
                <a:spcPts val="0"/>
              </a:spcBef>
              <a:buNone/>
            </a:pPr>
            <a:endParaRPr lang="en-US" dirty="0">
              <a:solidFill>
                <a:schemeClr val="bg1"/>
              </a:solidFill>
              <a:highlight>
                <a:srgbClr val="000000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57200" lvl="2" indent="0">
              <a:spcBef>
                <a:spcPts val="0"/>
              </a:spcBef>
              <a:buNone/>
            </a:pPr>
            <a:r>
              <a:rPr lang="en-US" dirty="0" err="1">
                <a:highlight>
                  <a:srgbClr val="0000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user_name</a:t>
            </a:r>
            <a:r>
              <a:rPr lang="en-US" dirty="0">
                <a:highlight>
                  <a:srgbClr val="0000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= ‘will’</a:t>
            </a:r>
          </a:p>
          <a:p>
            <a:pPr marL="457200" lvl="2" indent="0">
              <a:spcBef>
                <a:spcPts val="0"/>
              </a:spcBef>
              <a:buNone/>
            </a:pPr>
            <a:r>
              <a:rPr lang="en-US" dirty="0">
                <a:highlight>
                  <a:srgbClr val="0000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print(</a:t>
            </a:r>
            <a:r>
              <a:rPr lang="en-US" dirty="0" err="1">
                <a:highlight>
                  <a:srgbClr val="0000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user_name.</a:t>
            </a:r>
            <a:r>
              <a:rPr lang="en-US" err="1">
                <a:highlight>
                  <a:srgbClr val="0000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upper</a:t>
            </a:r>
            <a:r>
              <a:rPr lang="en-US">
                <a:highlight>
                  <a:srgbClr val="0000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())</a:t>
            </a:r>
          </a:p>
          <a:p>
            <a:pPr marL="457200" lvl="2" indent="0">
              <a:spcBef>
                <a:spcPts val="0"/>
              </a:spcBef>
              <a:buNone/>
            </a:pPr>
            <a:r>
              <a:rPr lang="en-US">
                <a:highlight>
                  <a:srgbClr val="0000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-----------------------------</a:t>
            </a:r>
          </a:p>
          <a:p>
            <a:pPr marL="457200" lvl="2" indent="0">
              <a:spcBef>
                <a:spcPts val="0"/>
              </a:spcBef>
              <a:buNone/>
            </a:pPr>
            <a:r>
              <a:rPr lang="en-US">
                <a:highlight>
                  <a:srgbClr val="0000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Outputs “WILL”</a:t>
            </a:r>
            <a:endParaRPr lang="en-US" dirty="0">
              <a:highlight>
                <a:srgbClr val="000000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4599338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9AB04D-874D-0245-A562-02212EE48C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499" y="163050"/>
            <a:ext cx="10515600" cy="1325563"/>
          </a:xfrm>
        </p:spPr>
        <p:txBody>
          <a:bodyPr/>
          <a:lstStyle/>
          <a:p>
            <a:r>
              <a:rPr lang="en-US" dirty="0"/>
              <a:t>More strings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13A5A2-1019-0143-BC00-1B8B12D7C1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499" y="1488613"/>
            <a:ext cx="8596668" cy="3880773"/>
          </a:xfrm>
        </p:spPr>
        <p:txBody>
          <a:bodyPr>
            <a:normAutofit/>
          </a:bodyPr>
          <a:lstStyle/>
          <a:p>
            <a:r>
              <a:rPr lang="en-US" dirty="0"/>
              <a:t>Variables in strings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/>
              <a:t>Whitespace characters: \n &amp; \t </a:t>
            </a:r>
            <a:endParaRPr lang="en-US" dirty="0"/>
          </a:p>
          <a:p>
            <a:endParaRPr lang="en-US" dirty="0"/>
          </a:p>
          <a:p>
            <a:pPr lvl="1"/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6392740-C94B-4BF7-92D6-83D0F9541E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1738" y="2135981"/>
            <a:ext cx="6281874" cy="153761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B56C9AE-3C1D-4D71-B900-583A667D40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1738" y="4210049"/>
            <a:ext cx="4214262" cy="2486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142035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9AB04D-874D-0245-A562-02212EE48C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499" y="163050"/>
            <a:ext cx="10515600" cy="1325563"/>
          </a:xfrm>
        </p:spPr>
        <p:txBody>
          <a:bodyPr/>
          <a:lstStyle/>
          <a:p>
            <a:r>
              <a:rPr lang="en-US" dirty="0"/>
              <a:t>Homework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13A5A2-1019-0143-BC00-1B8B12D7C1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499" y="1488613"/>
            <a:ext cx="10515115" cy="4633808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r>
              <a:rPr lang="en-US" dirty="0"/>
              <a:t>Read chapters 1 &amp; 2 </a:t>
            </a:r>
            <a:r>
              <a:rPr lang="en-US"/>
              <a:t>in textbook</a:t>
            </a:r>
          </a:p>
          <a:p>
            <a:pPr lvl="1"/>
            <a:r>
              <a:rPr lang="en-US"/>
              <a:t>"Starting Out with Programming Logic and Design 5th Edition" (ISBN: 978-0134801155)</a:t>
            </a:r>
          </a:p>
          <a:p>
            <a:pPr lvl="1"/>
            <a:r>
              <a:rPr lang="en-US"/>
              <a:t>You can likely find a free PDF version if your “Google-Fu” is good</a:t>
            </a:r>
          </a:p>
          <a:p>
            <a:pPr lvl="1"/>
            <a:r>
              <a:rPr lang="en-US"/>
              <a:t>I haven’t looked at the older editions</a:t>
            </a:r>
            <a:endParaRPr lang="en-US" dirty="0"/>
          </a:p>
          <a:p>
            <a:r>
              <a:rPr lang="en-US" dirty="0"/>
              <a:t>Download and install Python 3 on your computer: </a:t>
            </a:r>
            <a:r>
              <a:rPr lang="en-US" dirty="0">
                <a:hlinkClick r:id="rId2"/>
              </a:rPr>
              <a:t>Python Downloads</a:t>
            </a:r>
            <a:endParaRPr lang="en-US" dirty="0"/>
          </a:p>
          <a:p>
            <a:pPr lvl="1"/>
            <a:r>
              <a:rPr lang="en-US" b="1" u="sng" dirty="0"/>
              <a:t>BIG NOTE: Make sure it's available on your PATH, otherwise you may have issues</a:t>
            </a:r>
          </a:p>
          <a:p>
            <a:pPr lvl="1"/>
            <a:r>
              <a:rPr lang="en-US" dirty="0"/>
              <a:t>Windows 10 install video: </a:t>
            </a:r>
            <a:r>
              <a:rPr lang="en-US" dirty="0">
                <a:hlinkClick r:id="rId3"/>
              </a:rPr>
              <a:t>youtube</a:t>
            </a:r>
            <a:r>
              <a:rPr lang="en-US" dirty="0"/>
              <a:t> (similar for Mac, but may have specific quirks)</a:t>
            </a:r>
          </a:p>
          <a:p>
            <a:r>
              <a:rPr lang="en-US" dirty="0"/>
              <a:t>Download and install a text editor/IDE of your choosing</a:t>
            </a:r>
          </a:p>
          <a:p>
            <a:pPr lvl="1"/>
            <a:r>
              <a:rPr lang="en-US" dirty="0"/>
              <a:t>My personal favorites are </a:t>
            </a:r>
            <a:r>
              <a:rPr lang="en-US" dirty="0" err="1"/>
              <a:t>VSCode</a:t>
            </a:r>
            <a:r>
              <a:rPr lang="en-US" dirty="0"/>
              <a:t> and </a:t>
            </a:r>
            <a:r>
              <a:rPr lang="en-US" dirty="0" err="1"/>
              <a:t>Pycharm</a:t>
            </a:r>
            <a:endParaRPr lang="en-US" dirty="0"/>
          </a:p>
          <a:p>
            <a:pPr lvl="1"/>
            <a:r>
              <a:rPr lang="en-US" dirty="0"/>
              <a:t>Be sure to test that you can run a python program on it (simple </a:t>
            </a:r>
            <a:r>
              <a:rPr lang="en-US" dirty="0">
                <a:highlight>
                  <a:srgbClr val="000000"/>
                </a:highlight>
              </a:rPr>
              <a:t>print('hello world')</a:t>
            </a:r>
            <a:r>
              <a:rPr lang="en-US" dirty="0"/>
              <a:t> </a:t>
            </a:r>
            <a:r>
              <a:rPr lang="en-US"/>
              <a:t>) </a:t>
            </a: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621083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Circuit</Template>
  <TotalTime>932</TotalTime>
  <Words>1335</Words>
  <Application>Microsoft Office PowerPoint</Application>
  <PresentationFormat>Widescreen</PresentationFormat>
  <Paragraphs>159</Paragraphs>
  <Slides>21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Arial</vt:lpstr>
      <vt:lpstr>Calibri</vt:lpstr>
      <vt:lpstr>Courier New</vt:lpstr>
      <vt:lpstr>Tw Cen MT</vt:lpstr>
      <vt:lpstr>Circuit</vt:lpstr>
      <vt:lpstr>CSC 119:Intro to Programming</vt:lpstr>
      <vt:lpstr>About Me</vt:lpstr>
      <vt:lpstr>Tools – What you’ll need to be successful</vt:lpstr>
      <vt:lpstr>Let’s Jump In</vt:lpstr>
      <vt:lpstr>Programming Languages</vt:lpstr>
      <vt:lpstr>Programming Languages – Examples</vt:lpstr>
      <vt:lpstr>My First Programming Job</vt:lpstr>
      <vt:lpstr>Python</vt:lpstr>
      <vt:lpstr>Syntax</vt:lpstr>
      <vt:lpstr>Syntax Examples</vt:lpstr>
      <vt:lpstr>Variables</vt:lpstr>
      <vt:lpstr>Python Primitive vs Non-Primitive Variables</vt:lpstr>
      <vt:lpstr>Some Syntax Around Variables - Python</vt:lpstr>
      <vt:lpstr>Check Understanding</vt:lpstr>
      <vt:lpstr>Check Understanding - Answers</vt:lpstr>
      <vt:lpstr>Integers</vt:lpstr>
      <vt:lpstr>Floats</vt:lpstr>
      <vt:lpstr>PowerPoint Presentation</vt:lpstr>
      <vt:lpstr>Strings</vt:lpstr>
      <vt:lpstr>More strings</vt:lpstr>
      <vt:lpstr>Homework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CSC 119:Intro to Programming</dc:title>
  <dc:creator>William Estes</dc:creator>
  <cp:lastModifiedBy>William</cp:lastModifiedBy>
  <cp:revision>177</cp:revision>
  <dcterms:created xsi:type="dcterms:W3CDTF">2020-08-14T15:37:54Z</dcterms:created>
  <dcterms:modified xsi:type="dcterms:W3CDTF">2021-12-28T03:02:09Z</dcterms:modified>
</cp:coreProperties>
</file>